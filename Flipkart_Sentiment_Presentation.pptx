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data" id="{eba1e88f-7f63-3ab8-f03e-676249304527}">
          <p14:sldIdLst>
            <p14:sldId id="256"/>
            <p14:sldId id="257"/>
            <p14:sldId id="258"/>
            <p14:sldId id="259"/>
            <p14:sldId id="260"/>
            <p14:sldId id="261"/>
          </p14:sldIdLst>
        </p14:section>
        <p14:section name="Methods and results" id="{8a8403ba-5bae-c1af-c0cc-2e826760e5f9}">
          <p14:sldIdLst>
            <p14:sldId id="262"/>
            <p14:sldId id="263"/>
            <p14:sldId id="264"/>
            <p14:sldId id="265"/>
            <p14:sldId id="266"/>
            <p14:sldId id="267"/>
          </p14:sldIdLst>
        </p14:section>
        <p14:section name="Demo and conclusions" id="{2f06d418-a5ce-ae63-ba79-7d72ff9e04e8}">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mn-lt"/>
              </a:defRPr>
            </a:pPr>
            <a:r>
              <a:rPr sz="1300" b="0" i="0" u="none" strike="noStrike">
                <a:solidFill>
                  <a:srgbClr val="14213D"/>
                </a:solidFill>
                <a:latin typeface="+mn-lt"/>
              </a:rPr>
              <a:t>Macro-F1 on unseen phrases (Logistic Regression)</a:t>
            </a:r>
          </a:p>
        </c:rich>
      </c:tx>
      <c:layout/>
      <c:overlay val="0"/>
    </c:title>
    <c:autoTitleDeleted val="0"/>
    <c:plotArea>
      <c:layout/>
      <c:barChart>
        <c:barDir val="col"/>
        <c:grouping val="clustered"/>
        <c:varyColors val="0"/>
        <c:ser>
          <c:idx val="0"/>
          <c:order val="0"/>
          <c:tx>
            <c:strRef>
              <c:f>Sheet1!$B$1</c:f>
              <c:strCache>
                <c:ptCount val="1"/>
                <c:pt idx="0">
                  <c:v>Macro-F1, unseen phrases</c:v>
                </c:pt>
              </c:strCache>
            </c:strRef>
          </c:tx>
          <c:spPr>
            <a:solidFill>
              <a:srgbClr val="2874F0"/>
            </a:solidFill>
            <a:effectLst/>
          </c:spPr>
          <c:invertIfNegative val="0"/>
          <c:dLbls>
            <c:numFmt formatCode="0.000"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2874F0"/>
              </a:solidFill>
              <a:effectLst/>
            </c:spPr>
          </c:dPt>
          <c:dPt>
            <c:idx val="1"/>
            <c:invertIfNegative val="0"/>
            <c:bubble3D val="0"/>
            <c:spPr>
              <a:solidFill>
                <a:srgbClr val="2874F0"/>
              </a:solidFill>
              <a:effectLst/>
            </c:spPr>
          </c:dPt>
          <c:dPt>
            <c:idx val="2"/>
            <c:invertIfNegative val="0"/>
            <c:bubble3D val="0"/>
            <c:spPr>
              <a:solidFill>
                <a:srgbClr val="2874F0"/>
              </a:solidFill>
              <a:effectLst/>
            </c:spPr>
          </c:dPt>
          <c:dPt>
            <c:idx val="3"/>
            <c:invertIfNegative val="0"/>
            <c:bubble3D val="0"/>
            <c:spPr>
              <a:solidFill>
                <a:srgbClr val="FFC200"/>
              </a:solidFill>
              <a:effectLst/>
            </c:spPr>
          </c:dPt>
          <c:cat>
            <c:multiLvlStrRef>
              <c:f>Sheet1!$A$2:$A$5</c:f>
              <c:multiLvlStrCache>
                <c:ptCount val="4"/>
                <c:lvl>
                  <c:pt idx="0">
                    <c:v>Cleaned only</c:v>
                  </c:pt>
                  <c:pt idx="1">
                    <c:v>Stop words removed</c:v>
                  </c:pt>
                  <c:pt idx="2">
                    <c:v>Stemmed</c:v>
                  </c:pt>
                  <c:pt idx="3">
                    <c:v>Lemmatized</c:v>
                  </c:pt>
                </c:lvl>
              </c:multiLvlStrCache>
            </c:multiLvlStrRef>
          </c:cat>
          <c:val>
            <c:numRef>
              <c:f>Sheet1!$B$2:$B$5</c:f>
              <c:numCache>
                <c:formatCode>General</c:formatCode>
                <c:ptCount val="4"/>
                <c:pt idx="0">
                  <c:v>0.846</c:v>
                </c:pt>
                <c:pt idx="1">
                  <c:v>0.825</c:v>
                </c:pt>
                <c:pt idx="2">
                  <c:v>0.921</c:v>
                </c:pt>
                <c:pt idx="3">
                  <c:v>0.921</c:v>
                </c:pt>
              </c:numCache>
            </c:numRef>
          </c:val>
        </c:ser>
        <c:dLbls>
          <c:numFmt formatCode="0.000"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9E1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A9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mn-lt"/>
              </a:defRPr>
            </a:pPr>
            <a:r>
              <a:rPr sz="1300" b="0" i="0" u="none" strike="noStrike">
                <a:solidFill>
                  <a:srgbClr val="14213D"/>
                </a:solidFill>
                <a:latin typeface="+mn-lt"/>
              </a:rPr>
              <a:t>Macro-F1 by model</a:t>
            </a:r>
          </a:p>
        </c:rich>
      </c:tx>
      <c:layout/>
      <c:overlay val="0"/>
    </c:title>
    <c:autoTitleDeleted val="0"/>
    <c:plotArea>
      <c:layout/>
      <c:barChart>
        <c:barDir val="col"/>
        <c:grouping val="clustered"/>
        <c:varyColors val="0"/>
        <c:ser>
          <c:idx val="0"/>
          <c:order val="0"/>
          <c:tx>
            <c:strRef>
              <c:f>Sheet1!$B$1</c:f>
              <c:strCache>
                <c:ptCount val="1"/>
                <c:pt idx="0">
                  <c:v>Random 80/20 split</c:v>
                </c:pt>
              </c:strCache>
            </c:strRef>
          </c:tx>
          <c:spPr>
            <a:solidFill>
              <a:srgbClr val="B8C4DD"/>
            </a:solidFill>
            <a:effectLst/>
          </c:spPr>
          <c:invertIfNegative val="0"/>
          <c:dLbls>
            <c:numFmt formatCode="0.00" sourceLinked="0"/>
            <c:txPr>
              <a:bodyPr/>
              <a:lstStyle/>
              <a:p>
                <a:pPr>
                  <a:defRPr b="0" i="0" strike="noStrike" sz="1000" u="none">
                    <a:solidFill>
                      <a:srgbClr val="14213D"/>
                    </a:solidFill>
                    <a:latin typeface="+mn-lt"/>
                  </a:defRPr>
                </a:pPr>
              </a:p>
            </c:txPr>
            <c:showLegendKey val="0"/>
            <c:showVal val="1"/>
            <c:showCatName val="0"/>
            <c:showSerName val="0"/>
            <c:showPercent val="0"/>
            <c:showBubbleSize val="0"/>
            <c:showLeaderLines val="0"/>
          </c:dLbls>
          <c:cat>
            <c:multiLvlStrRef>
              <c:f>Sheet1!$A$2:$A$7</c:f>
              <c:multiLvlStrCache>
                <c:ptCount val="6"/>
                <c:lvl>
                  <c:pt idx="0">
                    <c:v>Naive Bayes</c:v>
                  </c:pt>
                  <c:pt idx="1">
                    <c:v>Linear SVM</c:v>
                  </c:pt>
                  <c:pt idx="2">
                    <c:v>Logistic Reg.</c:v>
                  </c:pt>
                  <c:pt idx="3">
                    <c:v>Embed + Dense</c:v>
                  </c:pt>
                  <c:pt idx="4">
                    <c:v>BiLSTM</c:v>
                  </c:pt>
                  <c:pt idx="5">
                    <c:v>LSTM</c:v>
                  </c:pt>
                </c:lvl>
              </c:multiLvlStrCache>
            </c:multiLvlStrRef>
          </c:cat>
          <c:val>
            <c:numRef>
              <c:f>Sheet1!$B$2:$B$7</c:f>
              <c:numCache>
                <c:formatCode>General</c:formatCode>
                <c:ptCount val="6"/>
                <c:pt idx="0">
                  <c:v>1</c:v>
                </c:pt>
                <c:pt idx="1">
                  <c:v>1</c:v>
                </c:pt>
                <c:pt idx="2">
                  <c:v>1</c:v>
                </c:pt>
                <c:pt idx="3">
                  <c:v>1</c:v>
                </c:pt>
                <c:pt idx="4">
                  <c:v>1</c:v>
                </c:pt>
                <c:pt idx="5">
                  <c:v>1</c:v>
                </c:pt>
              </c:numCache>
            </c:numRef>
          </c:val>
        </c:ser>
        <c:ser>
          <c:idx val="1"/>
          <c:order val="1"/>
          <c:tx>
            <c:strRef>
              <c:f>Sheet1!$C$1</c:f>
              <c:strCache>
                <c:ptCount val="1"/>
                <c:pt idx="0">
                  <c:v>Unseen phrases</c:v>
                </c:pt>
              </c:strCache>
            </c:strRef>
          </c:tx>
          <c:spPr>
            <a:solidFill>
              <a:srgbClr val="2874F0"/>
            </a:solidFill>
            <a:effectLst/>
          </c:spPr>
          <c:invertIfNegative val="0"/>
          <c:dLbls>
            <c:numFmt formatCode="0.00" sourceLinked="0"/>
            <c:txPr>
              <a:bodyPr/>
              <a:lstStyle/>
              <a:p>
                <a:pPr>
                  <a:defRPr b="0" i="0" strike="noStrike" sz="1000" u="none">
                    <a:solidFill>
                      <a:srgbClr val="14213D"/>
                    </a:solidFill>
                    <a:latin typeface="+mn-lt"/>
                  </a:defRPr>
                </a:pPr>
              </a:p>
            </c:txPr>
            <c:showLegendKey val="0"/>
            <c:showVal val="1"/>
            <c:showCatName val="0"/>
            <c:showSerName val="0"/>
            <c:showPercent val="0"/>
            <c:showBubbleSize val="0"/>
            <c:showLeaderLines val="0"/>
          </c:dLbls>
          <c:cat>
            <c:multiLvlStrRef>
              <c:f>Sheet1!$A$2:$A$7</c:f>
              <c:multiLvlStrCache>
                <c:ptCount val="6"/>
                <c:lvl>
                  <c:pt idx="0">
                    <c:v>Naive Bayes</c:v>
                  </c:pt>
                  <c:pt idx="1">
                    <c:v>Linear SVM</c:v>
                  </c:pt>
                  <c:pt idx="2">
                    <c:v>Logistic Reg.</c:v>
                  </c:pt>
                  <c:pt idx="3">
                    <c:v>Embed + Dense</c:v>
                  </c:pt>
                  <c:pt idx="4">
                    <c:v>BiLSTM</c:v>
                  </c:pt>
                  <c:pt idx="5">
                    <c:v>LSTM</c:v>
                  </c:pt>
                </c:lvl>
              </c:multiLvlStrCache>
            </c:multiLvlStrRef>
          </c:cat>
          <c:val>
            <c:numRef>
              <c:f>Sheet1!$C$2:$C$7</c:f>
              <c:numCache>
                <c:formatCode>General</c:formatCode>
                <c:ptCount val="6"/>
                <c:pt idx="0">
                  <c:v>0.697</c:v>
                </c:pt>
                <c:pt idx="1">
                  <c:v>0.808</c:v>
                </c:pt>
                <c:pt idx="2">
                  <c:v>0.93</c:v>
                </c:pt>
                <c:pt idx="3">
                  <c:v>0.834</c:v>
                </c:pt>
                <c:pt idx="4">
                  <c:v>0.881</c:v>
                </c:pt>
                <c:pt idx="5">
                  <c:v>0.959</c:v>
                </c:pt>
              </c:numCache>
            </c:numRef>
          </c:val>
        </c:ser>
        <c:dLbls>
          <c:numFmt formatCode="0.00" sourceLinked="0"/>
          <c:txPr>
            <a:bodyPr/>
            <a:lstStyle/>
            <a:p>
              <a:pPr>
                <a:defRPr b="0" i="0" strike="noStrike" sz="1000" u="none">
                  <a:solidFill>
                    <a:srgbClr val="14213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D9E1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A9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4213D"/>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Good morning, everyone. My project is a sentiment analysis system for Flipkart-style product reviews. It takes a review written by a customer and decides whether it is Positive, Neutral or Negative. Over the next ten minutes I will show you the data, how I cleaned and prepared the text, the six models I compared, and a live app. One thing to listen for: my most important result is not a high score. It is why a perfect score here would be misleading.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Why does this matter? A big platform receives far more reviews than any team can read. If a model can label each review automatically, the company can track product perception, delivery experience and service quality at scale. The dataset has 30,000 reviews and 25 columns, and the target has three classes. The mix is uneven: about 62 percent Positive, 20 percent Neutral and 18 percent Negative. Because the classes are uneven, plain accuracy can flatter a model, so my main metric is macro-F1, which gives each class equal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This chart shows the class balance: 18,671 Positive, 6,019 Neutral and 5,310 Negative reviews. On data quality, only three columns had missing values: review summary, customer city and payment method, with 240, 300 and 150 blanks. I filled them with an empty string or 'Unknown' and dropped nothing. There were no duplicate review IDs, no true duplicate rows, and no invalid prices, ratings or dates. So the table itself is clean. The interesting problems are in what the columns mean, and that is the next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This is the first key finding. Look at the heatmap on the left: every rating maps to exactly one sentiment. Ratings 1 and 2 are always Negative, 3 is always Neutral, 4 and 5 are always Positive. The sentiment score on the right separates the classes with no overlap at all. That is called target leakage. If I fed Rating into a model, it would score 100 percent without reading a single word. So I removed Rating and Sentiment_Score from every model. All models use the review text only. A real project should always check for this before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The second finding is about the text. Out of 30,000 reviews there are only 960 unique review texts. Each one is a sentiment phrase, like 'perfect purchase, loved it', plus a neutral aspect phrase, like 'size was accurate'. There are just 30 sentiment phrases, ten per class, and 32 aspect phrases. The consequence is big: if I split the data randomly, 95.4 percent of test reviews have an exact twin in the training set. The model can memorize instead of learn. That is why every model reaches 100 percent on a random split, and why I built a harder test, which I will show on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This dashboard summarizes the exploration. Categories are balanced, between about 3,600 and 3,800 reviews each. Televisions and laptops are the most expensive, books the cheapest. I also tested whether business factors affect sentiment. Discount has no significant effect, with p equal to 0.10. Verified purchase makes no difference either, p equal to 0.72. Delivery days show no link to the experience score; the spikes at 11 and 12 days come from only 14 and 4 reviews. So in this dataset, the text is the only real signal, which justifies a text-based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Here is how raw text becomes model input. Step one: combine the review summary and review text. Step two: lowercase, strip symbols and tokenize with NLTK. Step three: remove stop words, but I deliberately keep 'no', 'nor' and 'not', because dropping them would turn 'not good' into 'good'. Step four: normalize words, comparing stemming and lemmatization. Step five: convert to numbers, using TF-IDF for the classical models and integer sequences for the neural networks. The same functions run in the notebook and in the live app, so training and prediction never drift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I did not pick the preprocessing by habit; I tested four versions with Logistic Regression. Cleaned only scored 0.846 macro-F1, stop-word removal 0.825, stemming 0.921 and lemmatization 0.921. Notice that stop-word removal alone was worst, because it can delete negations. Stemming and lemmatization tied, so I chose lemmatization, since its words stay readable and are easier to explain. One caution: on a random split all four scored 1.000, so only the harder test could separate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This slide explains how I measured the models fairly. The first test is the standard stratified 80/20 split, 24,000 reviews to train and 6,000 to test, as the assignment requires. But we saw it is saturated. So I added a second test, the unseen-phrase hold-out. I take 3 of the 10 sentiment phrases in each class, 9 of 30 in total, remove them from training completely, and test on them. Now the model must understand wording, not recognize a template. I repeat this with 5 random choices of held-out phrases and report the average and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Here are all six models. The grey bars are the random split: every model gets 1.00. The blue bars are the honest test, and now they separate. Naive Bayes is weakest at 0.70, then Linear SVM at 0.81, Embedding plus Dense at 0.83, BiLSTM at 0.88, Logistic Regression at 0.93 and LSTM at 0.96. The LSTM looks best, but the run-to-run spread is about 0.037, which is as large as its lead over Logistic Regression. So they are statistically tied. Logistic Regression trains in 0.1 seconds and saves at 52 kilobytes, against 12 seconds and 175 kilobytes for the LSTM. That is why I recommend Logistic Regression.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For the recommended model I tuned settings with GridSearchCV, using folds that keep whole phrases together so tuning is also honest. The best setting was C equal to 1 with unigrams plus bigrams. The chart shows the words with the biggest weights: 'disappoint', 'not', 'poor' and 'defective' push toward Negative; 'average', 'okay' and 'decent' toward Neutral; 'excellent', 'love' and 'superb' toward Positive. I also tested imbalance fixes. Class weighting scored 0.853 and oversampling 0.815, both worse than doing nothing at 0.930, so I did not use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On the deep learning side I built an Embedding plus Dense network, an LSTM and a BiLSTM in Keras, with a vocabulary of 118 tokens and a maximum length of 10. The training curves on the left converge within a few epochs, with no gap between training and validation. That looks perfect, but it is actually a warning: the validation set shares templates with the training set, so it cannot reveal overfitting. On unseen phrases the scores were 0.834, 0.959 and 0.881. The simplest recurrent model did best, which is reasonable for such short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I built a Streamlit dashboard with seven pages. In the analyzer you type a review, choose Logistic Regression, the LSTM or both, and get a label, confidence and the words that drove the decision. Now the table: clear reviews get correct answers from both models. The highlighted mixed review, 'great quality but late and damaged', is the interesting one. Logistic Regression says Negative at 63 percent; the LSTM says Positive at 100 percent. Both cannot be right, and there may be no single right label. So confidence is not accuracy, and the app warns when the two models disagree. [DEMO: open the app, click the Mixed review example, choose Compare both, press Analyze.]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To conclude. One: Rating and Sentiment_Score leak the label and must stay out of the features. Two: a random-split score of 100 percent reflects template overlap, not skill; the honest range is 0.70 to 0.96. Three: Logistic Regression and the LSTM are tied on unseen phrases, and I recommend Logistic Regression for speed, size and interpretability. The limits are clear: the data is synthetic and template-built, so real reviews with sarcasm or mixed opinions will be harder. Next steps are to train on real Flipkart reviews, try pretrained embeddings or BERT, add aspect-level sentiment and calibrate the confidence.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_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T">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Kicker"/>
          <p:cNvSpPr txBox="1"/>
          <p:nvPr/>
        </p:nvSpPr>
        <p:spPr>
          <a:xfrm>
            <a:off x="640080" y="1005840"/>
            <a:ext cx="7863840" cy="365760"/>
          </a:xfrm>
          <a:prstGeom prst="rect">
            <a:avLst/>
          </a:prstGeom>
          <a:noFill/>
          <a:ln/>
        </p:spPr>
        <p:txBody>
          <a:bodyPr wrap="square" lIns="0" tIns="0" rIns="0" bIns="0" rtlCol="0" anchor="t"/>
          <a:lstStyle/>
          <a:p>
            <a:pPr indent="0" marL="0">
              <a:buNone/>
            </a:pPr>
            <a:r>
              <a:rPr lang="en-US" sz="1300" b="1" dirty="0">
                <a:solidFill>
                  <a:schemeClr val="accent2"/>
                </a:solidFill>
                <a:latin typeface="Calibri" pitchFamily="34" charset="0"/>
                <a:ea typeface="Calibri" pitchFamily="34" charset="-122"/>
                <a:cs typeface="Calibri" pitchFamily="34" charset="-120"/>
              </a:rPr>
              <a:t>STUDENT PROJECT  |  NLP, MACHINE LEARNING AND DEEP LEARNING</a:t>
            </a:r>
            <a:endParaRPr lang="en-US" sz="1300" dirty="0"/>
          </a:p>
        </p:txBody>
      </p:sp>
      <p:sp>
        <p:nvSpPr>
          <p:cNvPr id="4" name="Cover title"/>
          <p:cNvSpPr txBox="1"/>
          <p:nvPr/>
        </p:nvSpPr>
        <p:spPr>
          <a:xfrm>
            <a:off x="640080" y="1463040"/>
            <a:ext cx="7863840" cy="164592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Flipkart Reviews</a:t>
            </a:r>
            <a:endParaRPr lang="en-US" sz="4400" dirty="0"/>
          </a:p>
          <a:p>
            <a:pPr indent="0" marL="0">
              <a:buNone/>
            </a:pPr>
            <a:r>
              <a:rPr lang="en-US" sz="4400" b="1" dirty="0">
                <a:solidFill>
                  <a:schemeClr val="bg1"/>
                </a:solidFill>
                <a:latin typeface="Cambria" pitchFamily="34" charset="0"/>
                <a:ea typeface="Cambria" pitchFamily="34" charset="-122"/>
                <a:cs typeface="Cambria" pitchFamily="34" charset="-120"/>
              </a:rPr>
              <a:t>Sentiment Analysis</a:t>
            </a:r>
            <a:endParaRPr lang="en-US" sz="4400" dirty="0"/>
          </a:p>
        </p:txBody>
      </p:sp>
      <p:sp>
        <p:nvSpPr>
          <p:cNvPr id="5" name="Chip 1"/>
          <p:cNvSpPr/>
          <p:nvPr/>
        </p:nvSpPr>
        <p:spPr>
          <a:xfrm>
            <a:off x="640080" y="3566160"/>
            <a:ext cx="2377440" cy="914400"/>
          </a:xfrm>
          <a:prstGeom prst="roundRect">
            <a:avLst>
              <a:gd name="adj" fmla="val 12000"/>
            </a:avLst>
          </a:prstGeom>
          <a:solidFill>
            <a:schemeClr val="accent1"/>
          </a:solidFill>
          <a:ln w="12700">
            <a:solidFill>
              <a:schemeClr val="accent1"/>
            </a:solidFill>
            <a:prstDash val="solid"/>
          </a:ln>
        </p:spPr>
      </p:sp>
      <p:sp>
        <p:nvSpPr>
          <p:cNvPr id="6" name="Chip value 1"/>
          <p:cNvSpPr txBox="1"/>
          <p:nvPr/>
        </p:nvSpPr>
        <p:spPr>
          <a:xfrm>
            <a:off x="822960" y="3630168"/>
            <a:ext cx="2011680" cy="457200"/>
          </a:xfrm>
          <a:prstGeom prst="rect">
            <a:avLst/>
          </a:prstGeom>
          <a:noFill/>
          <a:ln/>
        </p:spPr>
        <p:txBody>
          <a:bodyPr wrap="square" lIns="0" tIns="0" rIns="0" bIns="0" rtlCol="0" anchor="t"/>
          <a:lstStyle/>
          <a:p>
            <a:pPr indent="0" marL="0">
              <a:buNone/>
            </a:pPr>
            <a:r>
              <a:rPr lang="en-US" sz="2200" b="1" dirty="0">
                <a:solidFill>
                  <a:schemeClr val="bg1"/>
                </a:solidFill>
                <a:latin typeface="Calibri" pitchFamily="34" charset="0"/>
                <a:ea typeface="Calibri" pitchFamily="34" charset="-122"/>
                <a:cs typeface="Calibri" pitchFamily="34" charset="-120"/>
              </a:rPr>
              <a:t>30,000</a:t>
            </a:r>
            <a:endParaRPr lang="en-US" sz="2200" dirty="0"/>
          </a:p>
        </p:txBody>
      </p:sp>
      <p:sp>
        <p:nvSpPr>
          <p:cNvPr id="7" name="Chip label 1"/>
          <p:cNvSpPr txBox="1"/>
          <p:nvPr/>
        </p:nvSpPr>
        <p:spPr>
          <a:xfrm>
            <a:off x="822960" y="4069080"/>
            <a:ext cx="2011680" cy="32004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reviews</a:t>
            </a:r>
            <a:endParaRPr lang="en-US" sz="1400" dirty="0"/>
          </a:p>
        </p:txBody>
      </p:sp>
      <p:sp>
        <p:nvSpPr>
          <p:cNvPr id="8" name="Chip 2"/>
          <p:cNvSpPr/>
          <p:nvPr/>
        </p:nvSpPr>
        <p:spPr>
          <a:xfrm>
            <a:off x="3291840" y="3566160"/>
            <a:ext cx="2377440" cy="914400"/>
          </a:xfrm>
          <a:prstGeom prst="roundRect">
            <a:avLst>
              <a:gd name="adj" fmla="val 12000"/>
            </a:avLst>
          </a:prstGeom>
          <a:solidFill>
            <a:schemeClr val="accent1"/>
          </a:solidFill>
          <a:ln w="12700">
            <a:solidFill>
              <a:schemeClr val="accent1"/>
            </a:solidFill>
            <a:prstDash val="solid"/>
          </a:ln>
        </p:spPr>
      </p:sp>
      <p:sp>
        <p:nvSpPr>
          <p:cNvPr id="9" name="Chip value 2"/>
          <p:cNvSpPr txBox="1"/>
          <p:nvPr/>
        </p:nvSpPr>
        <p:spPr>
          <a:xfrm>
            <a:off x="3474720" y="3630168"/>
            <a:ext cx="2011680" cy="457200"/>
          </a:xfrm>
          <a:prstGeom prst="rect">
            <a:avLst/>
          </a:prstGeom>
          <a:noFill/>
          <a:ln/>
        </p:spPr>
        <p:txBody>
          <a:bodyPr wrap="square" lIns="0" tIns="0" rIns="0" bIns="0" rtlCol="0" anchor="t"/>
          <a:lstStyle/>
          <a:p>
            <a:pPr indent="0" marL="0">
              <a:buNone/>
            </a:pPr>
            <a:r>
              <a:rPr lang="en-US" sz="2200" b="1" dirty="0">
                <a:solidFill>
                  <a:schemeClr val="bg1"/>
                </a:solidFill>
                <a:latin typeface="Calibri" pitchFamily="34" charset="0"/>
                <a:ea typeface="Calibri" pitchFamily="34" charset="-122"/>
                <a:cs typeface="Calibri" pitchFamily="34" charset="-120"/>
              </a:rPr>
              <a:t>6</a:t>
            </a:r>
            <a:endParaRPr lang="en-US" sz="2200" dirty="0"/>
          </a:p>
        </p:txBody>
      </p:sp>
      <p:sp>
        <p:nvSpPr>
          <p:cNvPr id="10" name="Chip label 2"/>
          <p:cNvSpPr txBox="1"/>
          <p:nvPr/>
        </p:nvSpPr>
        <p:spPr>
          <a:xfrm>
            <a:off x="3474720" y="4069080"/>
            <a:ext cx="2011680" cy="32004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models compared</a:t>
            </a:r>
            <a:endParaRPr lang="en-US" sz="1400" dirty="0"/>
          </a:p>
        </p:txBody>
      </p:sp>
      <p:sp>
        <p:nvSpPr>
          <p:cNvPr id="11" name="Chip 3"/>
          <p:cNvSpPr/>
          <p:nvPr/>
        </p:nvSpPr>
        <p:spPr>
          <a:xfrm>
            <a:off x="5943600" y="3566160"/>
            <a:ext cx="2377440" cy="914400"/>
          </a:xfrm>
          <a:prstGeom prst="roundRect">
            <a:avLst>
              <a:gd name="adj" fmla="val 12000"/>
            </a:avLst>
          </a:prstGeom>
          <a:solidFill>
            <a:schemeClr val="accent1"/>
          </a:solidFill>
          <a:ln w="12700">
            <a:solidFill>
              <a:schemeClr val="accent1"/>
            </a:solidFill>
            <a:prstDash val="solid"/>
          </a:ln>
        </p:spPr>
      </p:sp>
      <p:sp>
        <p:nvSpPr>
          <p:cNvPr id="12" name="Chip value 3"/>
          <p:cNvSpPr txBox="1"/>
          <p:nvPr/>
        </p:nvSpPr>
        <p:spPr>
          <a:xfrm>
            <a:off x="6126480" y="3630168"/>
            <a:ext cx="2011680" cy="457200"/>
          </a:xfrm>
          <a:prstGeom prst="rect">
            <a:avLst/>
          </a:prstGeom>
          <a:noFill/>
          <a:ln/>
        </p:spPr>
        <p:txBody>
          <a:bodyPr wrap="square" lIns="0" tIns="0" rIns="0" bIns="0" rtlCol="0" anchor="t"/>
          <a:lstStyle/>
          <a:p>
            <a:pPr indent="0" marL="0">
              <a:buNone/>
            </a:pPr>
            <a:r>
              <a:rPr lang="en-US" sz="2200" b="1" dirty="0">
                <a:solidFill>
                  <a:schemeClr val="bg1"/>
                </a:solidFill>
                <a:latin typeface="Calibri" pitchFamily="34" charset="0"/>
                <a:ea typeface="Calibri" pitchFamily="34" charset="-122"/>
                <a:cs typeface="Calibri" pitchFamily="34" charset="-120"/>
              </a:rPr>
              <a:t>Streamlit</a:t>
            </a:r>
            <a:endParaRPr lang="en-US" sz="2200" dirty="0"/>
          </a:p>
        </p:txBody>
      </p:sp>
      <p:sp>
        <p:nvSpPr>
          <p:cNvPr id="13" name="Chip label 3"/>
          <p:cNvSpPr txBox="1"/>
          <p:nvPr/>
        </p:nvSpPr>
        <p:spPr>
          <a:xfrm>
            <a:off x="6126480" y="4069080"/>
            <a:ext cx="2011680" cy="32004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live demo</a:t>
            </a:r>
            <a:endParaRPr lang="en-US" sz="1400" dirty="0"/>
          </a:p>
        </p:txBody>
      </p:sp>
      <p:sp>
        <p:nvSpPr>
          <p:cNvPr id="14"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endParaRPr lang="en-US" sz="3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Business problem and objective</a:t>
            </a:r>
            <a:endParaRPr lang="en-US" sz="3000" dirty="0"/>
          </a:p>
        </p:txBody>
      </p:sp>
      <p:sp>
        <p:nvSpPr>
          <p:cNvPr id="4" name="Problem statement"/>
          <p:cNvSpPr txBox="1"/>
          <p:nvPr/>
        </p:nvSpPr>
        <p:spPr>
          <a:xfrm>
            <a:off x="457200" y="1188720"/>
            <a:ext cx="8229600" cy="9144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Customers write far more reviews than anyone can read. A sentiment model labels each review Positive, Neutral or Negative so teams can track product perception, delivery experience and service quality automatically.</a:t>
            </a:r>
            <a:endParaRPr lang="en-US" sz="1600" dirty="0"/>
          </a:p>
        </p:txBody>
      </p:sp>
      <p:sp>
        <p:nvSpPr>
          <p:cNvPr id="5" name="Stat reviews card"/>
          <p:cNvSpPr/>
          <p:nvPr/>
        </p:nvSpPr>
        <p:spPr>
          <a:xfrm>
            <a:off x="457200" y="2468880"/>
            <a:ext cx="2560320" cy="1737360"/>
          </a:xfrm>
          <a:prstGeom prst="roundRect">
            <a:avLst>
              <a:gd name="adj" fmla="val 6316"/>
            </a:avLst>
          </a:prstGeom>
          <a:solidFill>
            <a:schemeClr val="bg2"/>
          </a:solidFill>
          <a:ln w="12700">
            <a:solidFill>
              <a:schemeClr val="bg2"/>
            </a:solidFill>
            <a:prstDash val="solid"/>
          </a:ln>
        </p:spPr>
      </p:sp>
      <p:sp>
        <p:nvSpPr>
          <p:cNvPr id="6" name="Stat reviews number"/>
          <p:cNvSpPr txBox="1"/>
          <p:nvPr/>
        </p:nvSpPr>
        <p:spPr>
          <a:xfrm>
            <a:off x="685800" y="2697480"/>
            <a:ext cx="210312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30,000</a:t>
            </a:r>
            <a:endParaRPr lang="en-US" sz="4400" dirty="0"/>
          </a:p>
        </p:txBody>
      </p:sp>
      <p:sp>
        <p:nvSpPr>
          <p:cNvPr id="7" name="Stat reviews label"/>
          <p:cNvSpPr txBox="1"/>
          <p:nvPr/>
        </p:nvSpPr>
        <p:spPr>
          <a:xfrm>
            <a:off x="685800" y="3566160"/>
            <a:ext cx="210312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reviews, 25 columns, synthetic Flipkart-style data</a:t>
            </a:r>
            <a:endParaRPr lang="en-US" sz="1400" dirty="0"/>
          </a:p>
        </p:txBody>
      </p:sp>
      <p:sp>
        <p:nvSpPr>
          <p:cNvPr id="8" name="Stat classes card"/>
          <p:cNvSpPr/>
          <p:nvPr/>
        </p:nvSpPr>
        <p:spPr>
          <a:xfrm>
            <a:off x="3291840" y="2468880"/>
            <a:ext cx="2560320" cy="1737360"/>
          </a:xfrm>
          <a:prstGeom prst="roundRect">
            <a:avLst>
              <a:gd name="adj" fmla="val 6316"/>
            </a:avLst>
          </a:prstGeom>
          <a:solidFill>
            <a:schemeClr val="bg2"/>
          </a:solidFill>
          <a:ln w="12700">
            <a:solidFill>
              <a:schemeClr val="bg2"/>
            </a:solidFill>
            <a:prstDash val="solid"/>
          </a:ln>
        </p:spPr>
      </p:sp>
      <p:sp>
        <p:nvSpPr>
          <p:cNvPr id="9" name="Stat classes number"/>
          <p:cNvSpPr txBox="1"/>
          <p:nvPr/>
        </p:nvSpPr>
        <p:spPr>
          <a:xfrm>
            <a:off x="3520440" y="2697480"/>
            <a:ext cx="2103120" cy="822960"/>
          </a:xfrm>
          <a:prstGeom prst="rect">
            <a:avLst/>
          </a:prstGeom>
          <a:noFill/>
          <a:ln/>
        </p:spPr>
        <p:txBody>
          <a:bodyPr wrap="square" lIns="0" tIns="0" rIns="0" bIns="0" rtlCol="0" anchor="ctr"/>
          <a:lstStyle/>
          <a:p>
            <a:pPr indent="0" marL="0">
              <a:buNone/>
            </a:pPr>
            <a:r>
              <a:rPr lang="en-US" sz="2800" b="1" dirty="0">
                <a:solidFill>
                  <a:schemeClr val="accent3"/>
                </a:solidFill>
                <a:latin typeface="Cambria" pitchFamily="34" charset="0"/>
                <a:ea typeface="Cambria" pitchFamily="34" charset="-122"/>
                <a:cs typeface="Cambria" pitchFamily="34" charset="-120"/>
              </a:rPr>
              <a:t>62 / 20 / 18</a:t>
            </a:r>
            <a:endParaRPr lang="en-US" sz="2800" dirty="0"/>
          </a:p>
        </p:txBody>
      </p:sp>
      <p:sp>
        <p:nvSpPr>
          <p:cNvPr id="10" name="Stat classes label"/>
          <p:cNvSpPr txBox="1"/>
          <p:nvPr/>
        </p:nvSpPr>
        <p:spPr>
          <a:xfrm>
            <a:off x="3520440" y="3566160"/>
            <a:ext cx="210312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percent Positive, Neutral, Negative</a:t>
            </a:r>
            <a:endParaRPr lang="en-US" sz="1400" dirty="0"/>
          </a:p>
        </p:txBody>
      </p:sp>
      <p:sp>
        <p:nvSpPr>
          <p:cNvPr id="11" name="Stat metric card"/>
          <p:cNvSpPr/>
          <p:nvPr/>
        </p:nvSpPr>
        <p:spPr>
          <a:xfrm>
            <a:off x="6126480" y="2468880"/>
            <a:ext cx="2560320" cy="1737360"/>
          </a:xfrm>
          <a:prstGeom prst="roundRect">
            <a:avLst>
              <a:gd name="adj" fmla="val 6316"/>
            </a:avLst>
          </a:prstGeom>
          <a:solidFill>
            <a:schemeClr val="bg2"/>
          </a:solidFill>
          <a:ln w="12700">
            <a:solidFill>
              <a:schemeClr val="bg2"/>
            </a:solidFill>
            <a:prstDash val="solid"/>
          </a:ln>
        </p:spPr>
      </p:sp>
      <p:sp>
        <p:nvSpPr>
          <p:cNvPr id="12" name="Stat metric number"/>
          <p:cNvSpPr txBox="1"/>
          <p:nvPr/>
        </p:nvSpPr>
        <p:spPr>
          <a:xfrm>
            <a:off x="6355080" y="2697480"/>
            <a:ext cx="2103120" cy="822960"/>
          </a:xfrm>
          <a:prstGeom prst="rect">
            <a:avLst/>
          </a:prstGeom>
          <a:noFill/>
          <a:ln/>
        </p:spPr>
        <p:txBody>
          <a:bodyPr wrap="square" lIns="0" tIns="0" rIns="0" bIns="0" rtlCol="0" anchor="ctr"/>
          <a:lstStyle/>
          <a:p>
            <a:pPr indent="0" marL="0">
              <a:buNone/>
            </a:pPr>
            <a:r>
              <a:rPr lang="en-US" sz="2800" b="1" dirty="0">
                <a:solidFill>
                  <a:schemeClr val="accent4"/>
                </a:solidFill>
                <a:latin typeface="Cambria" pitchFamily="34" charset="0"/>
                <a:ea typeface="Cambria" pitchFamily="34" charset="-122"/>
                <a:cs typeface="Cambria" pitchFamily="34" charset="-120"/>
              </a:rPr>
              <a:t>Macro-F1</a:t>
            </a:r>
            <a:endParaRPr lang="en-US" sz="2800" dirty="0"/>
          </a:p>
        </p:txBody>
      </p:sp>
      <p:sp>
        <p:nvSpPr>
          <p:cNvPr id="13" name="Stat metric label"/>
          <p:cNvSpPr txBox="1"/>
          <p:nvPr/>
        </p:nvSpPr>
        <p:spPr>
          <a:xfrm>
            <a:off x="6355080" y="3566160"/>
            <a:ext cx="210312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primary metric for three unequal classes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Dataset: 30,000 reviews, 25 columns</a:t>
            </a:r>
            <a:endParaRPr lang="en-US" sz="3000" dirty="0"/>
          </a:p>
        </p:txBody>
      </p:sp>
      <p:pic>
        <p:nvPicPr>
          <p:cNvPr id="4" name="Sentiment distribution chart" descr="Bar and donut chart of Positive, Neutral and Negative review counts">    </p:cNvPr>
          <p:cNvPicPr>
            <a:picLocks noChangeAspect="1"/>
          </p:cNvPicPr>
          <p:nvPr/>
        </p:nvPicPr>
        <p:blipFill>
          <a:blip r:embed="rId1"/>
          <a:stretch>
            <a:fillRect/>
          </a:stretch>
        </p:blipFill>
        <p:spPr>
          <a:xfrm>
            <a:off x="457200" y="1371600"/>
            <a:ext cx="5303520" cy="1984108"/>
          </a:xfrm>
          <a:prstGeom prst="rect">
            <a:avLst/>
          </a:prstGeom>
        </p:spPr>
      </p:pic>
      <p:sp>
        <p:nvSpPr>
          <p:cNvPr id="5" name="Data quality card"/>
          <p:cNvSpPr/>
          <p:nvPr/>
        </p:nvSpPr>
        <p:spPr>
          <a:xfrm>
            <a:off x="6035040" y="1371600"/>
            <a:ext cx="2651760" cy="3017520"/>
          </a:xfrm>
          <a:prstGeom prst="roundRect">
            <a:avLst>
              <a:gd name="adj" fmla="val 4138"/>
            </a:avLst>
          </a:prstGeom>
          <a:solidFill>
            <a:schemeClr val="bg2"/>
          </a:solidFill>
          <a:ln w="12700">
            <a:solidFill>
              <a:schemeClr val="bg2"/>
            </a:solidFill>
            <a:prstDash val="solid"/>
          </a:ln>
        </p:spPr>
      </p:sp>
      <p:sp>
        <p:nvSpPr>
          <p:cNvPr id="6" name="Data quality heading"/>
          <p:cNvSpPr txBox="1"/>
          <p:nvPr/>
        </p:nvSpPr>
        <p:spPr>
          <a:xfrm>
            <a:off x="6263640" y="1554480"/>
            <a:ext cx="219456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Data quality</a:t>
            </a:r>
            <a:endParaRPr lang="en-US" sz="1600" dirty="0"/>
          </a:p>
        </p:txBody>
      </p:sp>
      <p:sp>
        <p:nvSpPr>
          <p:cNvPr id="7" name="Data quality list"/>
          <p:cNvSpPr txBox="1"/>
          <p:nvPr/>
        </p:nvSpPr>
        <p:spPr>
          <a:xfrm>
            <a:off x="6263640" y="1965960"/>
            <a:ext cx="2194560" cy="2286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Missing: summary 240, city 300, payment 150</a:t>
            </a:r>
            <a:endParaRPr lang="en-US" sz="1300" dirty="0"/>
          </a:p>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No duplicate Review_ID or true duplicate rows</a:t>
            </a:r>
            <a:endParaRPr lang="en-US" sz="1300" dirty="0"/>
          </a:p>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No invalid prices, ratings or dates</a:t>
            </a:r>
            <a:endParaRPr lang="en-US" sz="1300" dirty="0"/>
          </a:p>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Nothing dropped; blanks filled</a:t>
            </a:r>
            <a:endParaRPr lang="en-US" sz="1300" dirty="0"/>
          </a:p>
        </p:txBody>
      </p:sp>
      <p:sp>
        <p:nvSpPr>
          <p:cNvPr id="8" name="Class counts caption"/>
          <p:cNvSpPr txBox="1"/>
          <p:nvPr/>
        </p:nvSpPr>
        <p:spPr>
          <a:xfrm>
            <a:off x="457200" y="3840480"/>
            <a:ext cx="5303520" cy="36576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Positive 18,671 (62.2%)   Neutral 6,019 (20.1%)   Negative 5,310 (17.7%)</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Finding 1: Rating gives away the label</a:t>
            </a:r>
            <a:endParaRPr lang="en-US" sz="3000" dirty="0"/>
          </a:p>
        </p:txBody>
      </p:sp>
      <p:pic>
        <p:nvPicPr>
          <p:cNvPr id="4" name="Rating versus sentiment chart" descr="Heatmap showing each rating maps to exactly one sentiment, and non-overlapping sentiment score boxes">    </p:cNvPr>
          <p:cNvPicPr>
            <a:picLocks noChangeAspect="1"/>
          </p:cNvPicPr>
          <p:nvPr/>
        </p:nvPicPr>
        <p:blipFill>
          <a:blip r:embed="rId1"/>
          <a:stretch>
            <a:fillRect/>
          </a:stretch>
        </p:blipFill>
        <p:spPr>
          <a:xfrm>
            <a:off x="457200" y="1188720"/>
            <a:ext cx="8229600" cy="2650435"/>
          </a:xfrm>
          <a:prstGeom prst="rect">
            <a:avLst/>
          </a:prstGeom>
        </p:spPr>
      </p:pic>
      <p:sp>
        <p:nvSpPr>
          <p:cNvPr id="5" name="Leakage takeaway"/>
          <p:cNvSpPr txBox="1"/>
          <p:nvPr/>
        </p:nvSpPr>
        <p:spPr>
          <a:xfrm>
            <a:off x="457200" y="3977640"/>
            <a:ext cx="8229600" cy="731520"/>
          </a:xfrm>
          <a:prstGeom prst="rect">
            <a:avLst/>
          </a:prstGeom>
          <a:noFill/>
          <a:ln/>
        </p:spPr>
        <p:txBody>
          <a:bodyPr wrap="square" lIns="0" tIns="0" rIns="0" bIns="0" rtlCol="0" anchor="t"/>
          <a:lstStyle/>
          <a:p>
            <a:pPr indent="0" marL="0">
              <a:buNone/>
            </a:pPr>
            <a:r>
              <a:rPr lang="en-US" sz="1500" b="1" dirty="0">
                <a:solidFill>
                  <a:schemeClr val="accent4"/>
                </a:solidFill>
                <a:latin typeface="Calibri" pitchFamily="34" charset="0"/>
                <a:ea typeface="Calibri" pitchFamily="34" charset="-122"/>
                <a:cs typeface="Calibri" pitchFamily="34" charset="-120"/>
              </a:rPr>
              <a:t>Target leakage. </a:t>
            </a:r>
            <a:pPr indent="0" marL="0">
              <a:buNone/>
            </a:pPr>
            <a:r>
              <a:rPr lang="en-US" sz="1500" dirty="0">
                <a:solidFill>
                  <a:schemeClr val="tx1"/>
                </a:solidFill>
                <a:latin typeface="Calibri" pitchFamily="34" charset="0"/>
                <a:ea typeface="Calibri" pitchFamily="34" charset="-122"/>
                <a:cs typeface="Calibri" pitchFamily="34" charset="-120"/>
              </a:rPr>
              <a:t>Sentiment is a direct function of Rating, and Sentiment_Score separates the classes with no overlap. Both columns are excluded; every model uses review text only.</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Finding 2: the text is template-built</a:t>
            </a:r>
            <a:endParaRPr lang="en-US" sz="3000" dirty="0"/>
          </a:p>
        </p:txBody>
      </p:sp>
      <p:sp>
        <p:nvSpPr>
          <p:cNvPr id="4" name="Stat unique card"/>
          <p:cNvSpPr/>
          <p:nvPr/>
        </p:nvSpPr>
        <p:spPr>
          <a:xfrm>
            <a:off x="457200" y="1280160"/>
            <a:ext cx="2560320" cy="1737360"/>
          </a:xfrm>
          <a:prstGeom prst="roundRect">
            <a:avLst>
              <a:gd name="adj" fmla="val 6316"/>
            </a:avLst>
          </a:prstGeom>
          <a:solidFill>
            <a:schemeClr val="bg2"/>
          </a:solidFill>
          <a:ln w="12700">
            <a:solidFill>
              <a:schemeClr val="bg2"/>
            </a:solidFill>
            <a:prstDash val="solid"/>
          </a:ln>
        </p:spPr>
      </p:sp>
      <p:sp>
        <p:nvSpPr>
          <p:cNvPr id="5" name="Stat unique number"/>
          <p:cNvSpPr txBox="1"/>
          <p:nvPr/>
        </p:nvSpPr>
        <p:spPr>
          <a:xfrm>
            <a:off x="685800" y="1508760"/>
            <a:ext cx="210312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960</a:t>
            </a:r>
            <a:endParaRPr lang="en-US" sz="4400" dirty="0"/>
          </a:p>
        </p:txBody>
      </p:sp>
      <p:sp>
        <p:nvSpPr>
          <p:cNvPr id="6" name="Stat unique label"/>
          <p:cNvSpPr txBox="1"/>
          <p:nvPr/>
        </p:nvSpPr>
        <p:spPr>
          <a:xfrm>
            <a:off x="685800" y="2377440"/>
            <a:ext cx="210312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unique review texts out of 30,000</a:t>
            </a:r>
            <a:endParaRPr lang="en-US" sz="1400" dirty="0"/>
          </a:p>
        </p:txBody>
      </p:sp>
      <p:sp>
        <p:nvSpPr>
          <p:cNvPr id="7" name="Stat phrases card"/>
          <p:cNvSpPr/>
          <p:nvPr/>
        </p:nvSpPr>
        <p:spPr>
          <a:xfrm>
            <a:off x="3291840" y="1280160"/>
            <a:ext cx="2560320" cy="1737360"/>
          </a:xfrm>
          <a:prstGeom prst="roundRect">
            <a:avLst>
              <a:gd name="adj" fmla="val 6316"/>
            </a:avLst>
          </a:prstGeom>
          <a:solidFill>
            <a:schemeClr val="bg2"/>
          </a:solidFill>
          <a:ln w="12700">
            <a:solidFill>
              <a:schemeClr val="bg2"/>
            </a:solidFill>
            <a:prstDash val="solid"/>
          </a:ln>
        </p:spPr>
      </p:sp>
      <p:sp>
        <p:nvSpPr>
          <p:cNvPr id="8" name="Stat phrases number"/>
          <p:cNvSpPr txBox="1"/>
          <p:nvPr/>
        </p:nvSpPr>
        <p:spPr>
          <a:xfrm>
            <a:off x="3520440" y="1508760"/>
            <a:ext cx="2103120" cy="822960"/>
          </a:xfrm>
          <a:prstGeom prst="rect">
            <a:avLst/>
          </a:prstGeom>
          <a:noFill/>
          <a:ln/>
        </p:spPr>
        <p:txBody>
          <a:bodyPr wrap="square" lIns="0" tIns="0" rIns="0" bIns="0" rtlCol="0" anchor="ctr"/>
          <a:lstStyle/>
          <a:p>
            <a:pPr indent="0" marL="0">
              <a:buNone/>
            </a:pPr>
            <a:r>
              <a:rPr lang="en-US" sz="4400" b="1" dirty="0">
                <a:solidFill>
                  <a:schemeClr val="accent3"/>
                </a:solidFill>
                <a:latin typeface="Cambria" pitchFamily="34" charset="0"/>
                <a:ea typeface="Cambria" pitchFamily="34" charset="-122"/>
                <a:cs typeface="Cambria" pitchFamily="34" charset="-120"/>
              </a:rPr>
              <a:t>30</a:t>
            </a:r>
            <a:endParaRPr lang="en-US" sz="4400" dirty="0"/>
          </a:p>
        </p:txBody>
      </p:sp>
      <p:sp>
        <p:nvSpPr>
          <p:cNvPr id="9" name="Stat phrases label"/>
          <p:cNvSpPr txBox="1"/>
          <p:nvPr/>
        </p:nvSpPr>
        <p:spPr>
          <a:xfrm>
            <a:off x="3520440" y="2377440"/>
            <a:ext cx="210312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sentiment phrases, 10 per class, plus 32 aspect phrases</a:t>
            </a:r>
            <a:endParaRPr lang="en-US" sz="1400" dirty="0"/>
          </a:p>
        </p:txBody>
      </p:sp>
      <p:sp>
        <p:nvSpPr>
          <p:cNvPr id="10" name="Stat overlap card"/>
          <p:cNvSpPr/>
          <p:nvPr/>
        </p:nvSpPr>
        <p:spPr>
          <a:xfrm>
            <a:off x="6126480" y="1280160"/>
            <a:ext cx="2560320" cy="1737360"/>
          </a:xfrm>
          <a:prstGeom prst="roundRect">
            <a:avLst>
              <a:gd name="adj" fmla="val 6316"/>
            </a:avLst>
          </a:prstGeom>
          <a:solidFill>
            <a:schemeClr val="bg2"/>
          </a:solidFill>
          <a:ln w="12700">
            <a:solidFill>
              <a:schemeClr val="bg2"/>
            </a:solidFill>
            <a:prstDash val="solid"/>
          </a:ln>
        </p:spPr>
      </p:sp>
      <p:sp>
        <p:nvSpPr>
          <p:cNvPr id="11" name="Stat overlap number"/>
          <p:cNvSpPr txBox="1"/>
          <p:nvPr/>
        </p:nvSpPr>
        <p:spPr>
          <a:xfrm>
            <a:off x="6355080" y="1508760"/>
            <a:ext cx="2103120" cy="822960"/>
          </a:xfrm>
          <a:prstGeom prst="rect">
            <a:avLst/>
          </a:prstGeom>
          <a:noFill/>
          <a:ln/>
        </p:spPr>
        <p:txBody>
          <a:bodyPr wrap="square" lIns="0" tIns="0" rIns="0" bIns="0" rtlCol="0" anchor="ctr"/>
          <a:lstStyle/>
          <a:p>
            <a:pPr indent="0" marL="0">
              <a:buNone/>
            </a:pPr>
            <a:r>
              <a:rPr lang="en-US" sz="4400" b="1" dirty="0">
                <a:solidFill>
                  <a:schemeClr val="accent4"/>
                </a:solidFill>
                <a:latin typeface="Cambria" pitchFamily="34" charset="0"/>
                <a:ea typeface="Cambria" pitchFamily="34" charset="-122"/>
                <a:cs typeface="Cambria" pitchFamily="34" charset="-120"/>
              </a:rPr>
              <a:t>95.4%</a:t>
            </a:r>
            <a:endParaRPr lang="en-US" sz="4400" dirty="0"/>
          </a:p>
        </p:txBody>
      </p:sp>
      <p:sp>
        <p:nvSpPr>
          <p:cNvPr id="12" name="Stat overlap label"/>
          <p:cNvSpPr txBox="1"/>
          <p:nvPr/>
        </p:nvSpPr>
        <p:spPr>
          <a:xfrm>
            <a:off x="6355080" y="2377440"/>
            <a:ext cx="210312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of test reviews have an exact twin in training</a:t>
            </a:r>
            <a:endParaRPr lang="en-US" sz="1400" dirty="0"/>
          </a:p>
        </p:txBody>
      </p:sp>
      <p:sp>
        <p:nvSpPr>
          <p:cNvPr id="13" name="Example card"/>
          <p:cNvSpPr/>
          <p:nvPr/>
        </p:nvSpPr>
        <p:spPr>
          <a:xfrm>
            <a:off x="457200" y="3291840"/>
            <a:ext cx="8229600" cy="1188720"/>
          </a:xfrm>
          <a:prstGeom prst="roundRect">
            <a:avLst>
              <a:gd name="adj" fmla="val 9231"/>
            </a:avLst>
          </a:prstGeom>
          <a:solidFill>
            <a:schemeClr val="bg2"/>
          </a:solidFill>
          <a:ln w="12700">
            <a:solidFill>
              <a:schemeClr val="bg2"/>
            </a:solidFill>
            <a:prstDash val="solid"/>
          </a:ln>
        </p:spPr>
      </p:sp>
      <p:sp>
        <p:nvSpPr>
          <p:cNvPr id="14" name="Example text"/>
          <p:cNvSpPr txBox="1"/>
          <p:nvPr/>
        </p:nvSpPr>
        <p:spPr>
          <a:xfrm>
            <a:off x="731520" y="3474720"/>
            <a:ext cx="7680960" cy="82296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Example: </a:t>
            </a:r>
            <a:pPr indent="0" marL="0">
              <a:buNone/>
            </a:pPr>
            <a:r>
              <a:rPr lang="en-US" sz="1500" dirty="0">
                <a:solidFill>
                  <a:schemeClr val="tx1"/>
                </a:solidFill>
                <a:latin typeface="Calibri" pitchFamily="34" charset="0"/>
                <a:ea typeface="Calibri" pitchFamily="34" charset="-122"/>
                <a:cs typeface="Calibri" pitchFamily="34" charset="-120"/>
              </a:rPr>
              <a:t>"perfect purchase, loved it"  +  "size was accurate"  =  one Positive review.  A negative phrase can pair with a positive aspect, so the sentiment phrase carries the signal.</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Exploratory analysis at a glance</a:t>
            </a:r>
            <a:endParaRPr lang="en-US" sz="3000" dirty="0"/>
          </a:p>
        </p:txBody>
      </p:sp>
      <p:pic>
        <p:nvPicPr>
          <p:cNvPr id="4" name="EDA dashboard" descr="Six-panel EDA dashboard: sentiment, rating heatmap, categories, price, discount mix, delivery days">    </p:cNvPr>
          <p:cNvPicPr>
            <a:picLocks noChangeAspect="1"/>
          </p:cNvPicPr>
          <p:nvPr/>
        </p:nvPicPr>
        <p:blipFill>
          <a:blip r:embed="rId1"/>
          <a:stretch>
            <a:fillRect/>
          </a:stretch>
        </p:blipFill>
        <p:spPr>
          <a:xfrm>
            <a:off x="457200" y="1188720"/>
            <a:ext cx="5852160" cy="3263893"/>
          </a:xfrm>
          <a:prstGeom prst="rect">
            <a:avLst/>
          </a:prstGeom>
        </p:spPr>
      </p:pic>
      <p:sp>
        <p:nvSpPr>
          <p:cNvPr id="5" name="EDA takeaways"/>
          <p:cNvSpPr txBox="1"/>
          <p:nvPr/>
        </p:nvSpPr>
        <p:spPr>
          <a:xfrm>
            <a:off x="6537960" y="1234440"/>
            <a:ext cx="2194560" cy="32004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Category volume is balanced: 3,595 to 3,814 reviews</a:t>
            </a:r>
            <a:endParaRPr lang="en-US" sz="1300" dirty="0"/>
          </a:p>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Televisions and Laptops have the highest prices</a:t>
            </a:r>
            <a:endParaRPr lang="en-US" sz="1300" dirty="0"/>
          </a:p>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Discount: p = 0.10, no effect on sentiment</a:t>
            </a:r>
            <a:endParaRPr lang="en-US" sz="1300" dirty="0"/>
          </a:p>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Verified purchase: p = 0.72, same mix</a:t>
            </a:r>
            <a:endParaRPr lang="en-US" sz="1300" dirty="0"/>
          </a:p>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Delivery days: no link to experience score</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NLP pipeline</a:t>
            </a:r>
            <a:endParaRPr lang="en-US" sz="3000" dirty="0"/>
          </a:p>
        </p:txBody>
      </p:sp>
      <p:sp>
        <p:nvSpPr>
          <p:cNvPr id="4" name="Step card 1"/>
          <p:cNvSpPr/>
          <p:nvPr/>
        </p:nvSpPr>
        <p:spPr>
          <a:xfrm>
            <a:off x="457200" y="1463040"/>
            <a:ext cx="1536192" cy="2286000"/>
          </a:xfrm>
          <a:prstGeom prst="roundRect">
            <a:avLst>
              <a:gd name="adj" fmla="val 7143"/>
            </a:avLst>
          </a:prstGeom>
          <a:solidFill>
            <a:schemeClr val="bg2"/>
          </a:solidFill>
          <a:ln w="12700">
            <a:solidFill>
              <a:schemeClr val="bg2"/>
            </a:solidFill>
            <a:prstDash val="solid"/>
          </a:ln>
        </p:spPr>
      </p:sp>
      <p:sp>
        <p:nvSpPr>
          <p:cNvPr id="5" name="Step badge 1"/>
          <p:cNvSpPr/>
          <p:nvPr/>
        </p:nvSpPr>
        <p:spPr>
          <a:xfrm>
            <a:off x="950976" y="1645920"/>
            <a:ext cx="548640" cy="548640"/>
          </a:xfrm>
          <a:prstGeom prst="ellipse">
            <a:avLst/>
          </a:prstGeom>
          <a:solidFill>
            <a:schemeClr val="accent1"/>
          </a:solidFill>
          <a:ln w="12700">
            <a:solidFill>
              <a:schemeClr val="accent1"/>
            </a:solidFill>
            <a:prstDash val="solid"/>
          </a:ln>
        </p:spPr>
      </p:sp>
      <p:sp>
        <p:nvSpPr>
          <p:cNvPr id="6" name="Step number 1"/>
          <p:cNvSpPr txBox="1"/>
          <p:nvPr/>
        </p:nvSpPr>
        <p:spPr>
          <a:xfrm>
            <a:off x="950976"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7" name="Step title 1"/>
          <p:cNvSpPr txBox="1"/>
          <p:nvPr/>
        </p:nvSpPr>
        <p:spPr>
          <a:xfrm>
            <a:off x="594360" y="2377440"/>
            <a:ext cx="1261872" cy="32004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Combine</a:t>
            </a:r>
            <a:endParaRPr lang="en-US" sz="1600" dirty="0"/>
          </a:p>
        </p:txBody>
      </p:sp>
      <p:sp>
        <p:nvSpPr>
          <p:cNvPr id="8" name="Step body 1"/>
          <p:cNvSpPr txBox="1"/>
          <p:nvPr/>
        </p:nvSpPr>
        <p:spPr>
          <a:xfrm>
            <a:off x="594360" y="2743200"/>
            <a:ext cx="1261872" cy="109728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Review_Summary plus Review_Text</a:t>
            </a:r>
            <a:endParaRPr lang="en-US" sz="1300" dirty="0"/>
          </a:p>
        </p:txBody>
      </p:sp>
      <p:sp>
        <p:nvSpPr>
          <p:cNvPr id="9" name="Step card 2"/>
          <p:cNvSpPr/>
          <p:nvPr/>
        </p:nvSpPr>
        <p:spPr>
          <a:xfrm>
            <a:off x="2121408" y="1463040"/>
            <a:ext cx="1536192" cy="2286000"/>
          </a:xfrm>
          <a:prstGeom prst="roundRect">
            <a:avLst>
              <a:gd name="adj" fmla="val 7143"/>
            </a:avLst>
          </a:prstGeom>
          <a:solidFill>
            <a:schemeClr val="bg2"/>
          </a:solidFill>
          <a:ln w="12700">
            <a:solidFill>
              <a:schemeClr val="bg2"/>
            </a:solidFill>
            <a:prstDash val="solid"/>
          </a:ln>
        </p:spPr>
      </p:sp>
      <p:sp>
        <p:nvSpPr>
          <p:cNvPr id="10" name="Step badge 2"/>
          <p:cNvSpPr/>
          <p:nvPr/>
        </p:nvSpPr>
        <p:spPr>
          <a:xfrm>
            <a:off x="2615184" y="1645920"/>
            <a:ext cx="548640" cy="548640"/>
          </a:xfrm>
          <a:prstGeom prst="ellipse">
            <a:avLst/>
          </a:prstGeom>
          <a:solidFill>
            <a:schemeClr val="accent1"/>
          </a:solidFill>
          <a:ln w="12700">
            <a:solidFill>
              <a:schemeClr val="accent1"/>
            </a:solidFill>
            <a:prstDash val="solid"/>
          </a:ln>
        </p:spPr>
      </p:sp>
      <p:sp>
        <p:nvSpPr>
          <p:cNvPr id="11" name="Step number 2"/>
          <p:cNvSpPr txBox="1"/>
          <p:nvPr/>
        </p:nvSpPr>
        <p:spPr>
          <a:xfrm>
            <a:off x="2615184"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2</a:t>
            </a:r>
            <a:endParaRPr lang="en-US" sz="1800" dirty="0"/>
          </a:p>
        </p:txBody>
      </p:sp>
      <p:sp>
        <p:nvSpPr>
          <p:cNvPr id="12" name="Step title 2"/>
          <p:cNvSpPr txBox="1"/>
          <p:nvPr/>
        </p:nvSpPr>
        <p:spPr>
          <a:xfrm>
            <a:off x="2258568" y="2377440"/>
            <a:ext cx="1261872" cy="32004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Clean</a:t>
            </a:r>
            <a:endParaRPr lang="en-US" sz="1600" dirty="0"/>
          </a:p>
        </p:txBody>
      </p:sp>
      <p:sp>
        <p:nvSpPr>
          <p:cNvPr id="13" name="Step body 2"/>
          <p:cNvSpPr txBox="1"/>
          <p:nvPr/>
        </p:nvSpPr>
        <p:spPr>
          <a:xfrm>
            <a:off x="2258568" y="2743200"/>
            <a:ext cx="1261872" cy="109728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Lowercase, strip symbols, tokenize with NLTK</a:t>
            </a:r>
            <a:endParaRPr lang="en-US" sz="1300" dirty="0"/>
          </a:p>
        </p:txBody>
      </p:sp>
      <p:sp>
        <p:nvSpPr>
          <p:cNvPr id="14" name="Step card 3"/>
          <p:cNvSpPr/>
          <p:nvPr/>
        </p:nvSpPr>
        <p:spPr>
          <a:xfrm>
            <a:off x="3785616" y="1463040"/>
            <a:ext cx="1536192" cy="2286000"/>
          </a:xfrm>
          <a:prstGeom prst="roundRect">
            <a:avLst>
              <a:gd name="adj" fmla="val 7143"/>
            </a:avLst>
          </a:prstGeom>
          <a:solidFill>
            <a:schemeClr val="bg2"/>
          </a:solidFill>
          <a:ln w="12700">
            <a:solidFill>
              <a:schemeClr val="bg2"/>
            </a:solidFill>
            <a:prstDash val="solid"/>
          </a:ln>
        </p:spPr>
      </p:sp>
      <p:sp>
        <p:nvSpPr>
          <p:cNvPr id="15" name="Step badge 3"/>
          <p:cNvSpPr/>
          <p:nvPr/>
        </p:nvSpPr>
        <p:spPr>
          <a:xfrm>
            <a:off x="4279392" y="1645920"/>
            <a:ext cx="548640" cy="548640"/>
          </a:xfrm>
          <a:prstGeom prst="ellipse">
            <a:avLst/>
          </a:prstGeom>
          <a:solidFill>
            <a:schemeClr val="accent1"/>
          </a:solidFill>
          <a:ln w="12700">
            <a:solidFill>
              <a:schemeClr val="accent1"/>
            </a:solidFill>
            <a:prstDash val="solid"/>
          </a:ln>
        </p:spPr>
      </p:sp>
      <p:sp>
        <p:nvSpPr>
          <p:cNvPr id="16" name="Step number 3"/>
          <p:cNvSpPr txBox="1"/>
          <p:nvPr/>
        </p:nvSpPr>
        <p:spPr>
          <a:xfrm>
            <a:off x="4279392"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3</a:t>
            </a:r>
            <a:endParaRPr lang="en-US" sz="1800" dirty="0"/>
          </a:p>
        </p:txBody>
      </p:sp>
      <p:sp>
        <p:nvSpPr>
          <p:cNvPr id="17" name="Step title 3"/>
          <p:cNvSpPr txBox="1"/>
          <p:nvPr/>
        </p:nvSpPr>
        <p:spPr>
          <a:xfrm>
            <a:off x="3922776" y="2377440"/>
            <a:ext cx="1261872" cy="32004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Filter</a:t>
            </a:r>
            <a:endParaRPr lang="en-US" sz="1600" dirty="0"/>
          </a:p>
        </p:txBody>
      </p:sp>
      <p:sp>
        <p:nvSpPr>
          <p:cNvPr id="18" name="Step body 3"/>
          <p:cNvSpPr txBox="1"/>
          <p:nvPr/>
        </p:nvSpPr>
        <p:spPr>
          <a:xfrm>
            <a:off x="3922776" y="2743200"/>
            <a:ext cx="1261872" cy="109728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Remove stop words, keep no / nor / not</a:t>
            </a:r>
            <a:endParaRPr lang="en-US" sz="1300" dirty="0"/>
          </a:p>
        </p:txBody>
      </p:sp>
      <p:sp>
        <p:nvSpPr>
          <p:cNvPr id="19" name="Step card 4"/>
          <p:cNvSpPr/>
          <p:nvPr/>
        </p:nvSpPr>
        <p:spPr>
          <a:xfrm>
            <a:off x="5449824" y="1463040"/>
            <a:ext cx="1536192" cy="2286000"/>
          </a:xfrm>
          <a:prstGeom prst="roundRect">
            <a:avLst>
              <a:gd name="adj" fmla="val 7143"/>
            </a:avLst>
          </a:prstGeom>
          <a:solidFill>
            <a:schemeClr val="bg2"/>
          </a:solidFill>
          <a:ln w="12700">
            <a:solidFill>
              <a:schemeClr val="bg2"/>
            </a:solidFill>
            <a:prstDash val="solid"/>
          </a:ln>
        </p:spPr>
      </p:sp>
      <p:sp>
        <p:nvSpPr>
          <p:cNvPr id="20" name="Step badge 4"/>
          <p:cNvSpPr/>
          <p:nvPr/>
        </p:nvSpPr>
        <p:spPr>
          <a:xfrm>
            <a:off x="5943600" y="1645920"/>
            <a:ext cx="548640" cy="548640"/>
          </a:xfrm>
          <a:prstGeom prst="ellipse">
            <a:avLst/>
          </a:prstGeom>
          <a:solidFill>
            <a:schemeClr val="accent1"/>
          </a:solidFill>
          <a:ln w="12700">
            <a:solidFill>
              <a:schemeClr val="accent1"/>
            </a:solidFill>
            <a:prstDash val="solid"/>
          </a:ln>
        </p:spPr>
      </p:sp>
      <p:sp>
        <p:nvSpPr>
          <p:cNvPr id="21" name="Step number 4"/>
          <p:cNvSpPr txBox="1"/>
          <p:nvPr/>
        </p:nvSpPr>
        <p:spPr>
          <a:xfrm>
            <a:off x="5943600"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4</a:t>
            </a:r>
            <a:endParaRPr lang="en-US" sz="1800" dirty="0"/>
          </a:p>
        </p:txBody>
      </p:sp>
      <p:sp>
        <p:nvSpPr>
          <p:cNvPr id="22" name="Step title 4"/>
          <p:cNvSpPr txBox="1"/>
          <p:nvPr/>
        </p:nvSpPr>
        <p:spPr>
          <a:xfrm>
            <a:off x="5586984" y="2377440"/>
            <a:ext cx="1261872" cy="32004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Normalize</a:t>
            </a:r>
            <a:endParaRPr lang="en-US" sz="1600" dirty="0"/>
          </a:p>
        </p:txBody>
      </p:sp>
      <p:sp>
        <p:nvSpPr>
          <p:cNvPr id="23" name="Step body 4"/>
          <p:cNvSpPr txBox="1"/>
          <p:nvPr/>
        </p:nvSpPr>
        <p:spPr>
          <a:xfrm>
            <a:off x="5586984" y="2743200"/>
            <a:ext cx="1261872" cy="109728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Porter stems or WordNet lemmas</a:t>
            </a:r>
            <a:endParaRPr lang="en-US" sz="1300" dirty="0"/>
          </a:p>
        </p:txBody>
      </p:sp>
      <p:sp>
        <p:nvSpPr>
          <p:cNvPr id="24" name="Step card 5"/>
          <p:cNvSpPr/>
          <p:nvPr/>
        </p:nvSpPr>
        <p:spPr>
          <a:xfrm>
            <a:off x="7114032" y="1463040"/>
            <a:ext cx="1536192" cy="2286000"/>
          </a:xfrm>
          <a:prstGeom prst="roundRect">
            <a:avLst>
              <a:gd name="adj" fmla="val 7143"/>
            </a:avLst>
          </a:prstGeom>
          <a:solidFill>
            <a:schemeClr val="bg2"/>
          </a:solidFill>
          <a:ln w="12700">
            <a:solidFill>
              <a:schemeClr val="bg2"/>
            </a:solidFill>
            <a:prstDash val="solid"/>
          </a:ln>
        </p:spPr>
      </p:sp>
      <p:sp>
        <p:nvSpPr>
          <p:cNvPr id="25" name="Step badge 5"/>
          <p:cNvSpPr/>
          <p:nvPr/>
        </p:nvSpPr>
        <p:spPr>
          <a:xfrm>
            <a:off x="7607808" y="1645920"/>
            <a:ext cx="548640" cy="548640"/>
          </a:xfrm>
          <a:prstGeom prst="ellipse">
            <a:avLst/>
          </a:prstGeom>
          <a:solidFill>
            <a:schemeClr val="accent1"/>
          </a:solidFill>
          <a:ln w="12700">
            <a:solidFill>
              <a:schemeClr val="accent1"/>
            </a:solidFill>
            <a:prstDash val="solid"/>
          </a:ln>
        </p:spPr>
      </p:sp>
      <p:sp>
        <p:nvSpPr>
          <p:cNvPr id="26" name="Step number 5"/>
          <p:cNvSpPr txBox="1"/>
          <p:nvPr/>
        </p:nvSpPr>
        <p:spPr>
          <a:xfrm>
            <a:off x="7607808"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5</a:t>
            </a:r>
            <a:endParaRPr lang="en-US" sz="1800" dirty="0"/>
          </a:p>
        </p:txBody>
      </p:sp>
      <p:sp>
        <p:nvSpPr>
          <p:cNvPr id="27" name="Step title 5"/>
          <p:cNvSpPr txBox="1"/>
          <p:nvPr/>
        </p:nvSpPr>
        <p:spPr>
          <a:xfrm>
            <a:off x="7251192" y="2377440"/>
            <a:ext cx="1261872" cy="32004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Vectorize</a:t>
            </a:r>
            <a:endParaRPr lang="en-US" sz="1600" dirty="0"/>
          </a:p>
        </p:txBody>
      </p:sp>
      <p:sp>
        <p:nvSpPr>
          <p:cNvPr id="28" name="Step body 5"/>
          <p:cNvSpPr txBox="1"/>
          <p:nvPr/>
        </p:nvSpPr>
        <p:spPr>
          <a:xfrm>
            <a:off x="7251192" y="2743200"/>
            <a:ext cx="1261872" cy="109728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TF-IDF, or integer sequences for Keras</a:t>
            </a:r>
            <a:endParaRPr lang="en-US" sz="1300" dirty="0"/>
          </a:p>
        </p:txBody>
      </p:sp>
      <p:sp>
        <p:nvSpPr>
          <p:cNvPr id="29" name="Pipeline note"/>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400" dirty="0">
                <a:solidFill>
                  <a:schemeClr val="accent6"/>
                </a:solidFill>
                <a:latin typeface="Calibri" pitchFamily="34" charset="0"/>
                <a:ea typeface="Calibri" pitchFamily="34" charset="-122"/>
                <a:cs typeface="Calibri" pitchFamily="34" charset="-120"/>
              </a:rPr>
              <a:t>Nothing is fitted on test data: vectorizers and vocabularies are built from training rows only.</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Choosing the text representation</a:t>
            </a:r>
            <a:endParaRPr lang="en-US" sz="3000" dirty="0"/>
          </a:p>
        </p:txBody>
      </p:sp>
      <p:graphicFrame>
        <p:nvGraphicFramePr>
          <p:cNvPr id="4" name="Chart 0" descr=""/>
          <p:cNvGraphicFramePr/>
          <p:nvPr/>
        </p:nvGraphicFramePr>
        <p:xfrm>
          <a:off x="457200" y="1188720"/>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5" name="Selection card"/>
          <p:cNvSpPr/>
          <p:nvPr/>
        </p:nvSpPr>
        <p:spPr>
          <a:xfrm>
            <a:off x="5852160" y="1188720"/>
            <a:ext cx="2834640" cy="3291840"/>
          </a:xfrm>
          <a:prstGeom prst="roundRect">
            <a:avLst>
              <a:gd name="adj" fmla="val 3871"/>
            </a:avLst>
          </a:prstGeom>
          <a:solidFill>
            <a:schemeClr val="bg2"/>
          </a:solidFill>
          <a:ln w="12700">
            <a:solidFill>
              <a:schemeClr val="bg2"/>
            </a:solidFill>
            <a:prstDash val="solid"/>
          </a:ln>
        </p:spPr>
      </p:sp>
      <p:sp>
        <p:nvSpPr>
          <p:cNvPr id="6" name="Selection heading"/>
          <p:cNvSpPr txBox="1"/>
          <p:nvPr/>
        </p:nvSpPr>
        <p:spPr>
          <a:xfrm>
            <a:off x="6080760" y="1371600"/>
            <a:ext cx="237744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Selected: lemmatized</a:t>
            </a:r>
            <a:endParaRPr lang="en-US" sz="1600" dirty="0"/>
          </a:p>
        </p:txBody>
      </p:sp>
      <p:sp>
        <p:nvSpPr>
          <p:cNvPr id="7" name="Selection list"/>
          <p:cNvSpPr txBox="1"/>
          <p:nvPr/>
        </p:nvSpPr>
        <p:spPr>
          <a:xfrm>
            <a:off x="6080760" y="1783080"/>
            <a:ext cx="2377440" cy="25603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116-word vocabulary, 7.5 tokens per review</a:t>
            </a:r>
            <a:endParaRPr lang="en-US" sz="1300" dirty="0"/>
          </a:p>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Ties with stemming at 0.921</a:t>
            </a:r>
            <a:endParaRPr lang="en-US" sz="1300" dirty="0"/>
          </a:p>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Words stay readable for explanations</a:t>
            </a:r>
            <a:endParaRPr lang="en-US" sz="1300" dirty="0"/>
          </a:p>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Stop-word removal alone scored lowest: it can drop negations</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Evaluation design</a:t>
            </a:r>
            <a:endParaRPr lang="en-US" sz="3000" dirty="0"/>
          </a:p>
        </p:txBody>
      </p:sp>
      <p:sp>
        <p:nvSpPr>
          <p:cNvPr id="4" name="Random split card"/>
          <p:cNvSpPr/>
          <p:nvPr/>
        </p:nvSpPr>
        <p:spPr>
          <a:xfrm>
            <a:off x="457200" y="1280160"/>
            <a:ext cx="3931920" cy="2377440"/>
          </a:xfrm>
          <a:prstGeom prst="roundRect">
            <a:avLst>
              <a:gd name="adj" fmla="val 4615"/>
            </a:avLst>
          </a:prstGeom>
          <a:solidFill>
            <a:schemeClr val="bg2"/>
          </a:solidFill>
          <a:ln w="12700">
            <a:solidFill>
              <a:schemeClr val="bg2"/>
            </a:solidFill>
            <a:prstDash val="solid"/>
          </a:ln>
        </p:spPr>
      </p:sp>
      <p:sp>
        <p:nvSpPr>
          <p:cNvPr id="5" name="Random split card badge"/>
          <p:cNvSpPr/>
          <p:nvPr/>
        </p:nvSpPr>
        <p:spPr>
          <a:xfrm>
            <a:off x="731520" y="1508760"/>
            <a:ext cx="457200" cy="457200"/>
          </a:xfrm>
          <a:prstGeom prst="ellipse">
            <a:avLst/>
          </a:prstGeom>
          <a:solidFill>
            <a:schemeClr val="accent6"/>
          </a:solidFill>
          <a:ln w="12700">
            <a:solidFill>
              <a:schemeClr val="accent6"/>
            </a:solidFill>
            <a:prstDash val="solid"/>
          </a:ln>
        </p:spPr>
      </p:sp>
      <p:sp>
        <p:nvSpPr>
          <p:cNvPr id="6" name="Random split card heading"/>
          <p:cNvSpPr txBox="1"/>
          <p:nvPr/>
        </p:nvSpPr>
        <p:spPr>
          <a:xfrm>
            <a:off x="1325880" y="1508760"/>
            <a:ext cx="2834640" cy="45720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Random 80/20 split</a:t>
            </a:r>
            <a:endParaRPr lang="en-US" sz="1800" dirty="0"/>
          </a:p>
        </p:txBody>
      </p:sp>
      <p:sp>
        <p:nvSpPr>
          <p:cNvPr id="7" name="Random split card body"/>
          <p:cNvSpPr txBox="1"/>
          <p:nvPr/>
        </p:nvSpPr>
        <p:spPr>
          <a:xfrm>
            <a:off x="731520" y="2194560"/>
            <a:ext cx="3383280" cy="12801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Stratified: 24,000 train, 6,000 test. Every model reaches macro-F1 1.000, so it cannot rank them.</a:t>
            </a:r>
            <a:endParaRPr lang="en-US" sz="1500" dirty="0"/>
          </a:p>
        </p:txBody>
      </p:sp>
      <p:sp>
        <p:nvSpPr>
          <p:cNvPr id="8" name="Hold-out card"/>
          <p:cNvSpPr/>
          <p:nvPr/>
        </p:nvSpPr>
        <p:spPr>
          <a:xfrm>
            <a:off x="4754880" y="1280160"/>
            <a:ext cx="3931920" cy="2377440"/>
          </a:xfrm>
          <a:prstGeom prst="roundRect">
            <a:avLst>
              <a:gd name="adj" fmla="val 4615"/>
            </a:avLst>
          </a:prstGeom>
          <a:solidFill>
            <a:schemeClr val="bg2"/>
          </a:solidFill>
          <a:ln w="12700">
            <a:solidFill>
              <a:schemeClr val="bg2"/>
            </a:solidFill>
            <a:prstDash val="solid"/>
          </a:ln>
        </p:spPr>
      </p:sp>
      <p:sp>
        <p:nvSpPr>
          <p:cNvPr id="9" name="Hold-out card badge"/>
          <p:cNvSpPr/>
          <p:nvPr/>
        </p:nvSpPr>
        <p:spPr>
          <a:xfrm>
            <a:off x="5029200" y="1508760"/>
            <a:ext cx="457200" cy="457200"/>
          </a:xfrm>
          <a:prstGeom prst="ellipse">
            <a:avLst/>
          </a:prstGeom>
          <a:solidFill>
            <a:schemeClr val="accent1"/>
          </a:solidFill>
          <a:ln w="12700">
            <a:solidFill>
              <a:schemeClr val="accent1"/>
            </a:solidFill>
            <a:prstDash val="solid"/>
          </a:ln>
        </p:spPr>
      </p:sp>
      <p:sp>
        <p:nvSpPr>
          <p:cNvPr id="10" name="Hold-out card heading"/>
          <p:cNvSpPr txBox="1"/>
          <p:nvPr/>
        </p:nvSpPr>
        <p:spPr>
          <a:xfrm>
            <a:off x="5623560" y="1508760"/>
            <a:ext cx="2834640" cy="45720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Unseen-phrase hold-out</a:t>
            </a:r>
            <a:endParaRPr lang="en-US" sz="1800" dirty="0"/>
          </a:p>
        </p:txBody>
      </p:sp>
      <p:sp>
        <p:nvSpPr>
          <p:cNvPr id="11" name="Hold-out card body"/>
          <p:cNvSpPr txBox="1"/>
          <p:nvPr/>
        </p:nvSpPr>
        <p:spPr>
          <a:xfrm>
            <a:off x="5029200" y="2194560"/>
            <a:ext cx="3383280" cy="12801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3 phrases per class never appear in training. Measures whether a model learned language or memorized templates.</a:t>
            </a:r>
            <a:endParaRPr lang="en-US" sz="1500" dirty="0"/>
          </a:p>
        </p:txBody>
      </p:sp>
      <p:sp>
        <p:nvSpPr>
          <p:cNvPr id="12" name="Metrics note"/>
          <p:cNvSpPr txBox="1"/>
          <p:nvPr/>
        </p:nvSpPr>
        <p:spPr>
          <a:xfrm>
            <a:off x="457200" y="4023360"/>
            <a:ext cx="8229600" cy="457200"/>
          </a:xfrm>
          <a:prstGeom prst="rect">
            <a:avLst/>
          </a:prstGeom>
          <a:noFill/>
          <a:ln/>
        </p:spPr>
        <p:txBody>
          <a:bodyPr wrap="square" lIns="0" tIns="0" rIns="0" bIns="0" rtlCol="0" anchor="t"/>
          <a:lstStyle/>
          <a:p>
            <a:pPr indent="0" marL="0">
              <a:buNone/>
            </a:pPr>
            <a:r>
              <a:rPr lang="en-US" sz="1400" dirty="0">
                <a:solidFill>
                  <a:schemeClr val="accent6"/>
                </a:solidFill>
                <a:latin typeface="Calibri" pitchFamily="34" charset="0"/>
                <a:ea typeface="Calibri" pitchFamily="34" charset="-122"/>
                <a:cs typeface="Calibri" pitchFamily="34" charset="-120"/>
              </a:rPr>
              <a:t>Primary metric: macro-F1. Supporting: accuracy, precision, recall, per-class F1 and confusion matrices.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Six models, one fair test</a:t>
            </a:r>
            <a:endParaRPr lang="en-US" sz="3000" dirty="0"/>
          </a:p>
        </p:txBody>
      </p:sp>
      <p:graphicFrame>
        <p:nvGraphicFramePr>
          <p:cNvPr id="4" name="Chart 0" descr=""/>
          <p:cNvGraphicFramePr/>
          <p:nvPr/>
        </p:nvGraphicFramePr>
        <p:xfrm>
          <a:off x="457200" y="1097280"/>
          <a:ext cx="5760720" cy="3474720"/>
        </p:xfrm>
        <a:graphic xmlns:a="http://schemas.openxmlformats.org/drawingml/2006/main">
          <a:graphicData uri="http://schemas.openxmlformats.org/drawingml/2006/chart">
            <c:chart xmlns:c="http://schemas.openxmlformats.org/drawingml/2006/chart" r:id="rId1"/>
          </a:graphicData>
        </a:graphic>
      </p:graphicFrame>
      <p:sp>
        <p:nvSpPr>
          <p:cNvPr id="5" name="Stat LR card"/>
          <p:cNvSpPr/>
          <p:nvPr/>
        </p:nvSpPr>
        <p:spPr>
          <a:xfrm>
            <a:off x="6492240" y="1188720"/>
            <a:ext cx="2194560" cy="1737360"/>
          </a:xfrm>
          <a:prstGeom prst="roundRect">
            <a:avLst>
              <a:gd name="adj" fmla="val 6316"/>
            </a:avLst>
          </a:prstGeom>
          <a:solidFill>
            <a:schemeClr val="bg2"/>
          </a:solidFill>
          <a:ln w="12700">
            <a:solidFill>
              <a:schemeClr val="bg2"/>
            </a:solidFill>
            <a:prstDash val="solid"/>
          </a:ln>
        </p:spPr>
      </p:sp>
      <p:sp>
        <p:nvSpPr>
          <p:cNvPr id="6" name="Stat LR number"/>
          <p:cNvSpPr txBox="1"/>
          <p:nvPr/>
        </p:nvSpPr>
        <p:spPr>
          <a:xfrm>
            <a:off x="6720840" y="1417320"/>
            <a:ext cx="173736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0.930</a:t>
            </a:r>
            <a:endParaRPr lang="en-US" sz="4400" dirty="0"/>
          </a:p>
        </p:txBody>
      </p:sp>
      <p:sp>
        <p:nvSpPr>
          <p:cNvPr id="7" name="Stat LR label"/>
          <p:cNvSpPr txBox="1"/>
          <p:nvPr/>
        </p:nvSpPr>
        <p:spPr>
          <a:xfrm>
            <a:off x="6720840" y="2286000"/>
            <a:ext cx="173736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Logistic Regression, unseen phrases</a:t>
            </a:r>
            <a:endParaRPr lang="en-US" sz="1400" dirty="0"/>
          </a:p>
        </p:txBody>
      </p:sp>
      <p:sp>
        <p:nvSpPr>
          <p:cNvPr id="8" name="Stat LSTM card"/>
          <p:cNvSpPr/>
          <p:nvPr/>
        </p:nvSpPr>
        <p:spPr>
          <a:xfrm>
            <a:off x="6492240" y="3063240"/>
            <a:ext cx="2194560" cy="1737360"/>
          </a:xfrm>
          <a:prstGeom prst="roundRect">
            <a:avLst>
              <a:gd name="adj" fmla="val 6316"/>
            </a:avLst>
          </a:prstGeom>
          <a:solidFill>
            <a:schemeClr val="bg2"/>
          </a:solidFill>
          <a:ln w="12700">
            <a:solidFill>
              <a:schemeClr val="bg2"/>
            </a:solidFill>
            <a:prstDash val="solid"/>
          </a:ln>
        </p:spPr>
      </p:sp>
      <p:sp>
        <p:nvSpPr>
          <p:cNvPr id="9" name="Stat LSTM number"/>
          <p:cNvSpPr txBox="1"/>
          <p:nvPr/>
        </p:nvSpPr>
        <p:spPr>
          <a:xfrm>
            <a:off x="6720840" y="3291840"/>
            <a:ext cx="1737360" cy="822960"/>
          </a:xfrm>
          <a:prstGeom prst="rect">
            <a:avLst/>
          </a:prstGeom>
          <a:noFill/>
          <a:ln/>
        </p:spPr>
        <p:txBody>
          <a:bodyPr wrap="square" lIns="0" tIns="0" rIns="0" bIns="0" rtlCol="0" anchor="ctr"/>
          <a:lstStyle/>
          <a:p>
            <a:pPr indent="0" marL="0">
              <a:buNone/>
            </a:pPr>
            <a:r>
              <a:rPr lang="en-US" sz="4400" b="1" dirty="0">
                <a:solidFill>
                  <a:schemeClr val="accent4"/>
                </a:solidFill>
                <a:latin typeface="Cambria" pitchFamily="34" charset="0"/>
                <a:ea typeface="Cambria" pitchFamily="34" charset="-122"/>
                <a:cs typeface="Cambria" pitchFamily="34" charset="-120"/>
              </a:rPr>
              <a:t>0.959</a:t>
            </a:r>
            <a:endParaRPr lang="en-US" sz="4400" dirty="0"/>
          </a:p>
        </p:txBody>
      </p:sp>
      <p:sp>
        <p:nvSpPr>
          <p:cNvPr id="10" name="Stat LSTM label"/>
          <p:cNvSpPr txBox="1"/>
          <p:nvPr/>
        </p:nvSpPr>
        <p:spPr>
          <a:xfrm>
            <a:off x="6720840" y="4160520"/>
            <a:ext cx="173736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LSTM, unseen phrases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Tuned Logistic Regression</a:t>
            </a:r>
            <a:endParaRPr lang="en-US" sz="3000" dirty="0"/>
          </a:p>
        </p:txBody>
      </p:sp>
      <p:pic>
        <p:nvPicPr>
          <p:cNvPr id="4" name="Top features chart" descr="Most influential words for Negative, Neutral and Positive predictions">    </p:cNvPr>
          <p:cNvPicPr>
            <a:picLocks noChangeAspect="1"/>
          </p:cNvPicPr>
          <p:nvPr/>
        </p:nvPicPr>
        <p:blipFill>
          <a:blip r:embed="rId1"/>
          <a:stretch>
            <a:fillRect/>
          </a:stretch>
        </p:blipFill>
        <p:spPr>
          <a:xfrm>
            <a:off x="457200" y="1188720"/>
            <a:ext cx="8229600" cy="2509024"/>
          </a:xfrm>
          <a:prstGeom prst="rect">
            <a:avLst/>
          </a:prstGeom>
        </p:spPr>
      </p:pic>
      <p:sp>
        <p:nvSpPr>
          <p:cNvPr id="5" name="Tuning takeaway"/>
          <p:cNvSpPr txBox="1"/>
          <p:nvPr/>
        </p:nvSpPr>
        <p:spPr>
          <a:xfrm>
            <a:off x="457200" y="3794760"/>
            <a:ext cx="8229600" cy="7315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Words drive the labels. </a:t>
            </a:r>
            <a:pPr indent="0" marL="0">
              <a:buNone/>
            </a:pPr>
            <a:r>
              <a:rPr lang="en-US" sz="1400" dirty="0">
                <a:solidFill>
                  <a:schemeClr val="tx1"/>
                </a:solidFill>
                <a:latin typeface="Calibri" pitchFamily="34" charset="0"/>
                <a:ea typeface="Calibri" pitchFamily="34" charset="-122"/>
                <a:cs typeface="Calibri" pitchFamily="34" charset="-120"/>
              </a:rPr>
              <a:t>Best settings: C = 1, unigrams plus bigrams. Class weighting and oversampling lowered the unseen-phrase score (0.853 and 0.815 against 0.930), so no imbalance correction is used.</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Deep learning: LSTM and BiLSTM</a:t>
            </a:r>
            <a:endParaRPr lang="en-US" sz="3000" dirty="0"/>
          </a:p>
        </p:txBody>
      </p:sp>
      <p:pic>
        <p:nvPicPr>
          <p:cNvPr id="4" name="Training curves" descr="Training and validation accuracy and loss for LSTM and BiLSTM">    </p:cNvPr>
          <p:cNvPicPr>
            <a:picLocks noChangeAspect="1"/>
          </p:cNvPicPr>
          <p:nvPr/>
        </p:nvPicPr>
        <p:blipFill>
          <a:blip r:embed="rId1"/>
          <a:stretch>
            <a:fillRect/>
          </a:stretch>
        </p:blipFill>
        <p:spPr>
          <a:xfrm>
            <a:off x="457200" y="1188720"/>
            <a:ext cx="5394960" cy="3102335"/>
          </a:xfrm>
          <a:prstGeom prst="rect">
            <a:avLst/>
          </a:prstGeom>
        </p:spPr>
      </p:pic>
      <p:sp>
        <p:nvSpPr>
          <p:cNvPr id="5" name="DL results card"/>
          <p:cNvSpPr/>
          <p:nvPr/>
        </p:nvSpPr>
        <p:spPr>
          <a:xfrm>
            <a:off x="6080760" y="1188720"/>
            <a:ext cx="2606040" cy="3108960"/>
          </a:xfrm>
          <a:prstGeom prst="roundRect">
            <a:avLst>
              <a:gd name="adj" fmla="val 4211"/>
            </a:avLst>
          </a:prstGeom>
          <a:solidFill>
            <a:schemeClr val="bg2"/>
          </a:solidFill>
          <a:ln w="12700">
            <a:solidFill>
              <a:schemeClr val="bg2"/>
            </a:solidFill>
            <a:prstDash val="solid"/>
          </a:ln>
        </p:spPr>
      </p:sp>
      <p:sp>
        <p:nvSpPr>
          <p:cNvPr id="6" name="DL results heading"/>
          <p:cNvSpPr txBox="1"/>
          <p:nvPr/>
        </p:nvSpPr>
        <p:spPr>
          <a:xfrm>
            <a:off x="6309360" y="1371600"/>
            <a:ext cx="219456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Unseen phrases</a:t>
            </a:r>
            <a:endParaRPr lang="en-US" sz="1600" dirty="0"/>
          </a:p>
        </p:txBody>
      </p:sp>
      <p:sp>
        <p:nvSpPr>
          <p:cNvPr id="7" name="DL results list"/>
          <p:cNvSpPr txBox="1"/>
          <p:nvPr/>
        </p:nvSpPr>
        <p:spPr>
          <a:xfrm>
            <a:off x="6309360" y="1783080"/>
            <a:ext cx="219456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Embedding + Dense: 0.834</a:t>
            </a:r>
            <a:endParaRPr lang="en-US" sz="1300" dirty="0"/>
          </a:p>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BiLSTM: 0.881</a:t>
            </a:r>
            <a:endParaRPr lang="en-US" sz="1300" dirty="0"/>
          </a:p>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LSTM: 0.959 (best)</a:t>
            </a:r>
            <a:endParaRPr lang="en-US" sz="1300" dirty="0"/>
          </a:p>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No visible overfitting, but the validation split is too easy to show it</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Live demo: Streamlit app</a:t>
            </a:r>
            <a:endParaRPr lang="en-US" sz="3000" dirty="0"/>
          </a:p>
        </p:txBody>
      </p:sp>
      <p:graphicFrame>
        <p:nvGraphicFramePr>
          <p:cNvPr id="14" name="Demo results table"/>
          <p:cNvGraphicFramePr>
            <a:graphicFrameLocks noGrp="1"/>
          </p:cNvGraphicFramePr>
          <p:nvPr>
            <p:extLst>
              <p:ext uri="{D42A27DB-BD31-4B8C-83A1-F6EECF244321}">
                <p14:modId xmlns:p14="http://schemas.microsoft.com/office/powerpoint/2010/main" val="1579011935"/>
              </p:ext>
            </p:extLst>
          </p:nvPr>
        </p:nvGraphicFramePr>
        <p:xfrm>
          <a:off x="457200" y="1280160"/>
          <a:ext cx="5120640" cy="914400"/>
        </p:xfrm>
        <a:graphic>
          <a:graphicData uri="http://schemas.openxmlformats.org/drawingml/2006/table">
            <a:tbl>
              <a:tblPr/>
              <a:tblGrid>
                <a:gridCol w="2560320"/>
                <a:gridCol w="1280160"/>
                <a:gridCol w="128016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New review</a:t>
                      </a:r>
                      <a:endParaRPr lang="en-US" sz="1200" dirty="0">
                        <a:latin typeface="Calibri" charset="0"/>
                        <a:ea typeface="Calibri" charset="0"/>
                        <a:cs typeface="Calibri" charset="0"/>
                      </a:endParaRPr>
                    </a:p>
                  </a:txBody>
                  <a:tcPr marL="91440" marR="91440" marT="45720" marB="45720" anchor="ctr">
                    <a:lnL w="9525" cap="flat" cmpd="sng" algn="ctr">
                      <a:solidFill>
                        <a:srgbClr val="D9E1F2"/>
                      </a:solidFill>
                      <a:prstDash val="solid"/>
                      <a:round/>
                      <a:headEnd type="none" w="med" len="med"/>
                      <a:tailEnd type="none" w="med" len="med"/>
                    </a:lnL>
                    <a:lnR w="9525" cap="flat" cmpd="sng" algn="ctr">
                      <a:solidFill>
                        <a:srgbClr val="D9E1F2"/>
                      </a:solidFill>
                      <a:prstDash val="solid"/>
                      <a:round/>
                      <a:headEnd type="none" w="med" len="med"/>
                      <a:tailEnd type="none" w="med" len="med"/>
                    </a:lnR>
                    <a:lnT w="9525" cap="flat" cmpd="sng" algn="ctr">
                      <a:solidFill>
                        <a:srgbClr val="D9E1F2"/>
                      </a:solidFill>
                      <a:prstDash val="solid"/>
                      <a:round/>
                      <a:headEnd type="none" w="med" len="med"/>
                      <a:tailEnd type="none" w="med" len="med"/>
                    </a:lnT>
                    <a:lnB w="9525" cap="flat" cmpd="sng" algn="ctr">
                      <a:solidFill>
                        <a:srgbClr val="D9E1F2"/>
                      </a:solidFill>
                      <a:prstDash val="solid"/>
                      <a:round/>
                      <a:headEnd type="none" w="med" len="med"/>
                      <a:tailEnd type="none" w="med" len="med"/>
                    </a:lnB>
                    <a:solidFill>
                      <a:srgbClr val="0B1F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Logistic Reg.</a:t>
                      </a:r>
                      <a:endParaRPr lang="en-US" sz="1200" dirty="0">
                        <a:latin typeface="Calibri" charset="0"/>
                        <a:ea typeface="Calibri" charset="0"/>
                        <a:cs typeface="Calibri" charset="0"/>
                      </a:endParaRPr>
                    </a:p>
                  </a:txBody>
                  <a:tcPr marL="91440" marR="91440" marT="45720" marB="45720" anchor="ctr">
                    <a:lnL w="9525" cap="flat" cmpd="sng" algn="ctr">
                      <a:solidFill>
                        <a:srgbClr val="D9E1F2"/>
                      </a:solidFill>
                      <a:prstDash val="solid"/>
                      <a:round/>
                      <a:headEnd type="none" w="med" len="med"/>
                      <a:tailEnd type="none" w="med" len="med"/>
                    </a:lnL>
                    <a:lnR w="9525" cap="flat" cmpd="sng" algn="ctr">
                      <a:solidFill>
                        <a:srgbClr val="D9E1F2"/>
                      </a:solidFill>
                      <a:prstDash val="solid"/>
                      <a:round/>
                      <a:headEnd type="none" w="med" len="med"/>
                      <a:tailEnd type="none" w="med" len="med"/>
                    </a:lnR>
                    <a:lnT w="9525" cap="flat" cmpd="sng" algn="ctr">
                      <a:solidFill>
                        <a:srgbClr val="D9E1F2"/>
                      </a:solidFill>
                      <a:prstDash val="solid"/>
                      <a:round/>
                      <a:headEnd type="none" w="med" len="med"/>
                      <a:tailEnd type="none" w="med" len="med"/>
                    </a:lnT>
                    <a:lnB w="9525" cap="flat" cmpd="sng" algn="ctr">
                      <a:solidFill>
                        <a:srgbClr val="D9E1F2"/>
                      </a:solidFill>
                      <a:prstDash val="solid"/>
                      <a:round/>
                      <a:headEnd type="none" w="med" len="med"/>
                      <a:tailEnd type="none" w="med" len="med"/>
                    </a:lnB>
                    <a:solidFill>
                      <a:srgbClr val="0B1F4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LSTM</a:t>
                      </a:r>
                      <a:endParaRPr lang="en-US" sz="1200" dirty="0">
                        <a:latin typeface="Calibri" charset="0"/>
                        <a:ea typeface="Calibri" charset="0"/>
                        <a:cs typeface="Calibri" charset="0"/>
                      </a:endParaRPr>
                    </a:p>
                  </a:txBody>
                  <a:tcPr marL="91440" marR="91440" marT="45720" marB="45720" anchor="ctr">
                    <a:lnL w="9525" cap="flat" cmpd="sng" algn="ctr">
                      <a:solidFill>
                        <a:srgbClr val="D9E1F2"/>
                      </a:solidFill>
                      <a:prstDash val="solid"/>
                      <a:round/>
                      <a:headEnd type="none" w="med" len="med"/>
                      <a:tailEnd type="none" w="med" len="med"/>
                    </a:lnL>
                    <a:lnR w="9525" cap="flat" cmpd="sng" algn="ctr">
                      <a:solidFill>
                        <a:srgbClr val="D9E1F2"/>
                      </a:solidFill>
                      <a:prstDash val="solid"/>
                      <a:round/>
                      <a:headEnd type="none" w="med" len="med"/>
                      <a:tailEnd type="none" w="med" len="med"/>
                    </a:lnR>
                    <a:lnT w="9525" cap="flat" cmpd="sng" algn="ctr">
                      <a:solidFill>
                        <a:srgbClr val="D9E1F2"/>
                      </a:solidFill>
                      <a:prstDash val="solid"/>
                      <a:round/>
                      <a:headEnd type="none" w="med" len="med"/>
                      <a:tailEnd type="none" w="med" len="med"/>
                    </a:lnT>
                    <a:lnB w="9525" cap="flat" cmpd="sng" algn="ctr">
                      <a:solidFill>
                        <a:srgbClr val="D9E1F2"/>
                      </a:solidFill>
                      <a:prstDash val="solid"/>
                      <a:round/>
                      <a:headEnd type="none" w="med" len="med"/>
                      <a:tailEnd type="none" w="med" len="med"/>
                    </a:lnB>
                    <a:solidFill>
                      <a:srgbClr val="0B1F4D"/>
                    </a:solidFill>
                  </a:tcPr>
                </a:tc>
              </a:tr>
              <a:tr h="457200">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Loved it | Perfect purchase, loved it</a:t>
                      </a:r>
                      <a:endParaRPr lang="en-US" sz="1200" dirty="0">
                        <a:latin typeface="Calibri" charset="0"/>
                        <a:ea typeface="Calibri" charset="0"/>
                        <a:cs typeface="Calibri" charset="0"/>
                      </a:endParaRPr>
                    </a:p>
                  </a:txBody>
                  <a:tcPr marL="91440" marR="91440" marT="45720" marB="45720" anchor="ctr">
                    <a:lnL w="9525" cap="flat" cmpd="sng" algn="ctr">
                      <a:solidFill>
                        <a:srgbClr val="D9E1F2"/>
                      </a:solidFill>
                      <a:prstDash val="solid"/>
                      <a:round/>
                      <a:headEnd type="none" w="med" len="med"/>
                      <a:tailEnd type="none" w="med" len="med"/>
                    </a:lnL>
                    <a:lnR w="9525" cap="flat" cmpd="sng" algn="ctr">
                      <a:solidFill>
                        <a:srgbClr val="D9E1F2"/>
                      </a:solidFill>
                      <a:prstDash val="solid"/>
                      <a:round/>
                      <a:headEnd type="none" w="med" len="med"/>
                      <a:tailEnd type="none" w="med" len="med"/>
                    </a:lnR>
                    <a:lnT w="9525" cap="flat" cmpd="sng" algn="ctr">
                      <a:solidFill>
                        <a:srgbClr val="D9E1F2"/>
                      </a:solidFill>
                      <a:prstDash val="solid"/>
                      <a:round/>
                      <a:headEnd type="none" w="med" len="med"/>
                      <a:tailEnd type="none" w="med" len="med"/>
                    </a:lnT>
                    <a:lnB w="9525" cap="flat" cmpd="sng" algn="ctr">
                      <a:solidFill>
                        <a:srgbClr val="D9E1F2"/>
                      </a:solidFill>
                      <a:prstDash val="solid"/>
                      <a:round/>
                      <a:headEnd type="none" w="med" len="med"/>
                      <a:tailEnd type="none" w="med" len="med"/>
                    </a:lnB>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Positive 99%</a:t>
                      </a:r>
                      <a:endParaRPr lang="en-US" sz="1200" dirty="0">
                        <a:latin typeface="Calibri" charset="0"/>
                        <a:ea typeface="Calibri" charset="0"/>
                        <a:cs typeface="Calibri" charset="0"/>
                      </a:endParaRPr>
                    </a:p>
                  </a:txBody>
                  <a:tcPr marL="91440" marR="91440" marT="45720" marB="45720" anchor="ctr">
                    <a:lnL w="9525" cap="flat" cmpd="sng" algn="ctr">
                      <a:solidFill>
                        <a:srgbClr val="D9E1F2"/>
                      </a:solidFill>
                      <a:prstDash val="solid"/>
                      <a:round/>
                      <a:headEnd type="none" w="med" len="med"/>
                      <a:tailEnd type="none" w="med" len="med"/>
                    </a:lnL>
                    <a:lnR w="9525" cap="flat" cmpd="sng" algn="ctr">
                      <a:solidFill>
                        <a:srgbClr val="D9E1F2"/>
                      </a:solidFill>
                      <a:prstDash val="solid"/>
                      <a:round/>
                      <a:headEnd type="none" w="med" len="med"/>
                      <a:tailEnd type="none" w="med" len="med"/>
                    </a:lnR>
                    <a:lnT w="9525" cap="flat" cmpd="sng" algn="ctr">
                      <a:solidFill>
                        <a:srgbClr val="D9E1F2"/>
                      </a:solidFill>
                      <a:prstDash val="solid"/>
                      <a:round/>
                      <a:headEnd type="none" w="med" len="med"/>
                      <a:tailEnd type="none" w="med" len="med"/>
                    </a:lnT>
                    <a:lnB w="9525" cap="flat" cmpd="sng" algn="ctr">
                      <a:solidFill>
                        <a:srgbClr val="D9E1F2"/>
                      </a:solidFill>
                      <a:prstDash val="solid"/>
                      <a:round/>
                      <a:headEnd type="none" w="med" len="med"/>
                      <a:tailEnd type="none" w="med" len="med"/>
                    </a:lnB>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Positive 100%</a:t>
                      </a:r>
                      <a:endParaRPr lang="en-US" sz="1200" dirty="0">
                        <a:latin typeface="Calibri" charset="0"/>
                        <a:ea typeface="Calibri" charset="0"/>
                        <a:cs typeface="Calibri" charset="0"/>
                      </a:endParaRPr>
                    </a:p>
                  </a:txBody>
                  <a:tcPr marL="91440" marR="91440" marT="45720" marB="45720" anchor="ctr">
                    <a:lnL w="9525" cap="flat" cmpd="sng" algn="ctr">
                      <a:solidFill>
                        <a:srgbClr val="D9E1F2"/>
                      </a:solidFill>
                      <a:prstDash val="solid"/>
                      <a:round/>
                      <a:headEnd type="none" w="med" len="med"/>
                      <a:tailEnd type="none" w="med" len="med"/>
                    </a:lnL>
                    <a:lnR w="9525" cap="flat" cmpd="sng" algn="ctr">
                      <a:solidFill>
                        <a:srgbClr val="D9E1F2"/>
                      </a:solidFill>
                      <a:prstDash val="solid"/>
                      <a:round/>
                      <a:headEnd type="none" w="med" len="med"/>
                      <a:tailEnd type="none" w="med" len="med"/>
                    </a:lnR>
                    <a:lnT w="9525" cap="flat" cmpd="sng" algn="ctr">
                      <a:solidFill>
                        <a:srgbClr val="D9E1F2"/>
                      </a:solidFill>
                      <a:prstDash val="solid"/>
                      <a:round/>
                      <a:headEnd type="none" w="med" len="med"/>
                      <a:tailEnd type="none" w="med" len="med"/>
                    </a:lnT>
                    <a:lnB w="9525" cap="flat" cmpd="sng" algn="ctr">
                      <a:solidFill>
                        <a:srgbClr val="D9E1F2"/>
                      </a:solidFill>
                      <a:prstDash val="solid"/>
                      <a:round/>
                      <a:headEnd type="none" w="med" len="med"/>
                      <a:tailEnd type="none" w="med" len="med"/>
                    </a:lnB>
                  </a:tcPr>
                </a:tc>
              </a:tr>
              <a:tr h="457200">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Waste of money | Stopped working</a:t>
                      </a:r>
                      <a:endParaRPr lang="en-US" sz="1200" dirty="0">
                        <a:latin typeface="Calibri" charset="0"/>
                        <a:ea typeface="Calibri" charset="0"/>
                        <a:cs typeface="Calibri" charset="0"/>
                      </a:endParaRPr>
                    </a:p>
                  </a:txBody>
                  <a:tcPr marL="91440" marR="91440" marT="45720" marB="45720" anchor="ctr">
                    <a:lnL w="9525" cap="flat" cmpd="sng" algn="ctr">
                      <a:solidFill>
                        <a:srgbClr val="D9E1F2"/>
                      </a:solidFill>
                      <a:prstDash val="solid"/>
                      <a:round/>
                      <a:headEnd type="none" w="med" len="med"/>
                      <a:tailEnd type="none" w="med" len="med"/>
                    </a:lnL>
                    <a:lnR w="9525" cap="flat" cmpd="sng" algn="ctr">
                      <a:solidFill>
                        <a:srgbClr val="D9E1F2"/>
                      </a:solidFill>
                      <a:prstDash val="solid"/>
                      <a:round/>
                      <a:headEnd type="none" w="med" len="med"/>
                      <a:tailEnd type="none" w="med" len="med"/>
                    </a:lnR>
                    <a:lnT w="9525" cap="flat" cmpd="sng" algn="ctr">
                      <a:solidFill>
                        <a:srgbClr val="D9E1F2"/>
                      </a:solidFill>
                      <a:prstDash val="solid"/>
                      <a:round/>
                      <a:headEnd type="none" w="med" len="med"/>
                      <a:tailEnd type="none" w="med" len="med"/>
                    </a:lnT>
                    <a:lnB w="9525" cap="flat" cmpd="sng" algn="ctr">
                      <a:solidFill>
                        <a:srgbClr val="D9E1F2"/>
                      </a:solidFill>
                      <a:prstDash val="solid"/>
                      <a:round/>
                      <a:headEnd type="none" w="med" len="med"/>
                      <a:tailEnd type="none" w="med" len="med"/>
                    </a:lnB>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Negative 100%</a:t>
                      </a:r>
                      <a:endParaRPr lang="en-US" sz="1200" dirty="0">
                        <a:latin typeface="Calibri" charset="0"/>
                        <a:ea typeface="Calibri" charset="0"/>
                        <a:cs typeface="Calibri" charset="0"/>
                      </a:endParaRPr>
                    </a:p>
                  </a:txBody>
                  <a:tcPr marL="91440" marR="91440" marT="45720" marB="45720" anchor="ctr">
                    <a:lnL w="9525" cap="flat" cmpd="sng" algn="ctr">
                      <a:solidFill>
                        <a:srgbClr val="D9E1F2"/>
                      </a:solidFill>
                      <a:prstDash val="solid"/>
                      <a:round/>
                      <a:headEnd type="none" w="med" len="med"/>
                      <a:tailEnd type="none" w="med" len="med"/>
                    </a:lnL>
                    <a:lnR w="9525" cap="flat" cmpd="sng" algn="ctr">
                      <a:solidFill>
                        <a:srgbClr val="D9E1F2"/>
                      </a:solidFill>
                      <a:prstDash val="solid"/>
                      <a:round/>
                      <a:headEnd type="none" w="med" len="med"/>
                      <a:tailEnd type="none" w="med" len="med"/>
                    </a:lnR>
                    <a:lnT w="9525" cap="flat" cmpd="sng" algn="ctr">
                      <a:solidFill>
                        <a:srgbClr val="D9E1F2"/>
                      </a:solidFill>
                      <a:prstDash val="solid"/>
                      <a:round/>
                      <a:headEnd type="none" w="med" len="med"/>
                      <a:tailEnd type="none" w="med" len="med"/>
                    </a:lnT>
                    <a:lnB w="9525" cap="flat" cmpd="sng" algn="ctr">
                      <a:solidFill>
                        <a:srgbClr val="D9E1F2"/>
                      </a:solidFill>
                      <a:prstDash val="solid"/>
                      <a:round/>
                      <a:headEnd type="none" w="med" len="med"/>
                      <a:tailEnd type="none" w="med" len="med"/>
                    </a:lnB>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Negative 100%</a:t>
                      </a:r>
                      <a:endParaRPr lang="en-US" sz="1200" dirty="0">
                        <a:latin typeface="Calibri" charset="0"/>
                        <a:ea typeface="Calibri" charset="0"/>
                        <a:cs typeface="Calibri" charset="0"/>
                      </a:endParaRPr>
                    </a:p>
                  </a:txBody>
                  <a:tcPr marL="91440" marR="91440" marT="45720" marB="45720" anchor="ctr">
                    <a:lnL w="9525" cap="flat" cmpd="sng" algn="ctr">
                      <a:solidFill>
                        <a:srgbClr val="D9E1F2"/>
                      </a:solidFill>
                      <a:prstDash val="solid"/>
                      <a:round/>
                      <a:headEnd type="none" w="med" len="med"/>
                      <a:tailEnd type="none" w="med" len="med"/>
                    </a:lnL>
                    <a:lnR w="9525" cap="flat" cmpd="sng" algn="ctr">
                      <a:solidFill>
                        <a:srgbClr val="D9E1F2"/>
                      </a:solidFill>
                      <a:prstDash val="solid"/>
                      <a:round/>
                      <a:headEnd type="none" w="med" len="med"/>
                      <a:tailEnd type="none" w="med" len="med"/>
                    </a:lnR>
                    <a:lnT w="9525" cap="flat" cmpd="sng" algn="ctr">
                      <a:solidFill>
                        <a:srgbClr val="D9E1F2"/>
                      </a:solidFill>
                      <a:prstDash val="solid"/>
                      <a:round/>
                      <a:headEnd type="none" w="med" len="med"/>
                      <a:tailEnd type="none" w="med" len="med"/>
                    </a:lnT>
                    <a:lnB w="9525" cap="flat" cmpd="sng" algn="ctr">
                      <a:solidFill>
                        <a:srgbClr val="D9E1F2"/>
                      </a:solidFill>
                      <a:prstDash val="solid"/>
                      <a:round/>
                      <a:headEnd type="none" w="med" len="med"/>
                      <a:tailEnd type="none" w="med" len="med"/>
                    </a:lnB>
                  </a:tcPr>
                </a:tc>
              </a:tr>
              <a:tr h="457200">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Not good at all, would not buy again</a:t>
                      </a:r>
                      <a:endParaRPr lang="en-US" sz="1200" dirty="0">
                        <a:latin typeface="Calibri" charset="0"/>
                        <a:ea typeface="Calibri" charset="0"/>
                        <a:cs typeface="Calibri" charset="0"/>
                      </a:endParaRPr>
                    </a:p>
                  </a:txBody>
                  <a:tcPr marL="91440" marR="91440" marT="45720" marB="45720" anchor="ctr">
                    <a:lnL w="9525" cap="flat" cmpd="sng" algn="ctr">
                      <a:solidFill>
                        <a:srgbClr val="D9E1F2"/>
                      </a:solidFill>
                      <a:prstDash val="solid"/>
                      <a:round/>
                      <a:headEnd type="none" w="med" len="med"/>
                      <a:tailEnd type="none" w="med" len="med"/>
                    </a:lnL>
                    <a:lnR w="9525" cap="flat" cmpd="sng" algn="ctr">
                      <a:solidFill>
                        <a:srgbClr val="D9E1F2"/>
                      </a:solidFill>
                      <a:prstDash val="solid"/>
                      <a:round/>
                      <a:headEnd type="none" w="med" len="med"/>
                      <a:tailEnd type="none" w="med" len="med"/>
                    </a:lnR>
                    <a:lnT w="9525" cap="flat" cmpd="sng" algn="ctr">
                      <a:solidFill>
                        <a:srgbClr val="D9E1F2"/>
                      </a:solidFill>
                      <a:prstDash val="solid"/>
                      <a:round/>
                      <a:headEnd type="none" w="med" len="med"/>
                      <a:tailEnd type="none" w="med" len="med"/>
                    </a:lnT>
                    <a:lnB w="9525" cap="flat" cmpd="sng" algn="ctr">
                      <a:solidFill>
                        <a:srgbClr val="D9E1F2"/>
                      </a:solidFill>
                      <a:prstDash val="solid"/>
                      <a:round/>
                      <a:headEnd type="none" w="med" len="med"/>
                      <a:tailEnd type="none" w="med" len="med"/>
                    </a:lnB>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Negative 100%</a:t>
                      </a:r>
                      <a:endParaRPr lang="en-US" sz="1200" dirty="0">
                        <a:latin typeface="Calibri" charset="0"/>
                        <a:ea typeface="Calibri" charset="0"/>
                        <a:cs typeface="Calibri" charset="0"/>
                      </a:endParaRPr>
                    </a:p>
                  </a:txBody>
                  <a:tcPr marL="91440" marR="91440" marT="45720" marB="45720" anchor="ctr">
                    <a:lnL w="9525" cap="flat" cmpd="sng" algn="ctr">
                      <a:solidFill>
                        <a:srgbClr val="D9E1F2"/>
                      </a:solidFill>
                      <a:prstDash val="solid"/>
                      <a:round/>
                      <a:headEnd type="none" w="med" len="med"/>
                      <a:tailEnd type="none" w="med" len="med"/>
                    </a:lnL>
                    <a:lnR w="9525" cap="flat" cmpd="sng" algn="ctr">
                      <a:solidFill>
                        <a:srgbClr val="D9E1F2"/>
                      </a:solidFill>
                      <a:prstDash val="solid"/>
                      <a:round/>
                      <a:headEnd type="none" w="med" len="med"/>
                      <a:tailEnd type="none" w="med" len="med"/>
                    </a:lnR>
                    <a:lnT w="9525" cap="flat" cmpd="sng" algn="ctr">
                      <a:solidFill>
                        <a:srgbClr val="D9E1F2"/>
                      </a:solidFill>
                      <a:prstDash val="solid"/>
                      <a:round/>
                      <a:headEnd type="none" w="med" len="med"/>
                      <a:tailEnd type="none" w="med" len="med"/>
                    </a:lnT>
                    <a:lnB w="9525" cap="flat" cmpd="sng" algn="ctr">
                      <a:solidFill>
                        <a:srgbClr val="D9E1F2"/>
                      </a:solidFill>
                      <a:prstDash val="solid"/>
                      <a:round/>
                      <a:headEnd type="none" w="med" len="med"/>
                      <a:tailEnd type="none" w="med" len="med"/>
                    </a:lnB>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Negative 100%</a:t>
                      </a:r>
                      <a:endParaRPr lang="en-US" sz="1200" dirty="0">
                        <a:latin typeface="Calibri" charset="0"/>
                        <a:ea typeface="Calibri" charset="0"/>
                        <a:cs typeface="Calibri" charset="0"/>
                      </a:endParaRPr>
                    </a:p>
                  </a:txBody>
                  <a:tcPr marL="91440" marR="91440" marT="45720" marB="45720" anchor="ctr">
                    <a:lnL w="9525" cap="flat" cmpd="sng" algn="ctr">
                      <a:solidFill>
                        <a:srgbClr val="D9E1F2"/>
                      </a:solidFill>
                      <a:prstDash val="solid"/>
                      <a:round/>
                      <a:headEnd type="none" w="med" len="med"/>
                      <a:tailEnd type="none" w="med" len="med"/>
                    </a:lnL>
                    <a:lnR w="9525" cap="flat" cmpd="sng" algn="ctr">
                      <a:solidFill>
                        <a:srgbClr val="D9E1F2"/>
                      </a:solidFill>
                      <a:prstDash val="solid"/>
                      <a:round/>
                      <a:headEnd type="none" w="med" len="med"/>
                      <a:tailEnd type="none" w="med" len="med"/>
                    </a:lnR>
                    <a:lnT w="9525" cap="flat" cmpd="sng" algn="ctr">
                      <a:solidFill>
                        <a:srgbClr val="D9E1F2"/>
                      </a:solidFill>
                      <a:prstDash val="solid"/>
                      <a:round/>
                      <a:headEnd type="none" w="med" len="med"/>
                      <a:tailEnd type="none" w="med" len="med"/>
                    </a:lnT>
                    <a:lnB w="9525" cap="flat" cmpd="sng" algn="ctr">
                      <a:solidFill>
                        <a:srgbClr val="D9E1F2"/>
                      </a:solidFill>
                      <a:prstDash val="solid"/>
                      <a:round/>
                      <a:headEnd type="none" w="med" len="med"/>
                      <a:tailEnd type="none" w="med" len="med"/>
                    </a:lnB>
                  </a:tcPr>
                </a:tc>
              </a:tr>
              <a:tr h="457200">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Great quality but late and damaged</a:t>
                      </a:r>
                      <a:endParaRPr lang="en-US" sz="1200" dirty="0">
                        <a:latin typeface="Calibri" charset="0"/>
                        <a:ea typeface="Calibri" charset="0"/>
                        <a:cs typeface="Calibri" charset="0"/>
                      </a:endParaRPr>
                    </a:p>
                  </a:txBody>
                  <a:tcPr marL="91440" marR="91440" marT="45720" marB="45720" anchor="ctr">
                    <a:lnL w="9525" cap="flat" cmpd="sng" algn="ctr">
                      <a:solidFill>
                        <a:srgbClr val="D9E1F2"/>
                      </a:solidFill>
                      <a:prstDash val="solid"/>
                      <a:round/>
                      <a:headEnd type="none" w="med" len="med"/>
                      <a:tailEnd type="none" w="med" len="med"/>
                    </a:lnL>
                    <a:lnR w="9525" cap="flat" cmpd="sng" algn="ctr">
                      <a:solidFill>
                        <a:srgbClr val="D9E1F2"/>
                      </a:solidFill>
                      <a:prstDash val="solid"/>
                      <a:round/>
                      <a:headEnd type="none" w="med" len="med"/>
                      <a:tailEnd type="none" w="med" len="med"/>
                    </a:lnR>
                    <a:lnT w="9525" cap="flat" cmpd="sng" algn="ctr">
                      <a:solidFill>
                        <a:srgbClr val="D9E1F2"/>
                      </a:solidFill>
                      <a:prstDash val="solid"/>
                      <a:round/>
                      <a:headEnd type="none" w="med" len="med"/>
                      <a:tailEnd type="none" w="med" len="med"/>
                    </a:lnT>
                    <a:lnB w="9525" cap="flat" cmpd="sng" algn="ctr">
                      <a:solidFill>
                        <a:srgbClr val="D9E1F2"/>
                      </a:solidFill>
                      <a:prstDash val="solid"/>
                      <a:round/>
                      <a:headEnd type="none" w="med" len="med"/>
                      <a:tailEnd type="none" w="med" len="med"/>
                    </a:lnB>
                    <a:solidFill>
                      <a:srgbClr val="FFF3CC"/>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Negative 63%</a:t>
                      </a:r>
                      <a:endParaRPr lang="en-US" sz="1200" dirty="0">
                        <a:latin typeface="Calibri" charset="0"/>
                        <a:ea typeface="Calibri" charset="0"/>
                        <a:cs typeface="Calibri" charset="0"/>
                      </a:endParaRPr>
                    </a:p>
                  </a:txBody>
                  <a:tcPr marL="91440" marR="91440" marT="45720" marB="45720" anchor="ctr">
                    <a:lnL w="9525" cap="flat" cmpd="sng" algn="ctr">
                      <a:solidFill>
                        <a:srgbClr val="D9E1F2"/>
                      </a:solidFill>
                      <a:prstDash val="solid"/>
                      <a:round/>
                      <a:headEnd type="none" w="med" len="med"/>
                      <a:tailEnd type="none" w="med" len="med"/>
                    </a:lnL>
                    <a:lnR w="9525" cap="flat" cmpd="sng" algn="ctr">
                      <a:solidFill>
                        <a:srgbClr val="D9E1F2"/>
                      </a:solidFill>
                      <a:prstDash val="solid"/>
                      <a:round/>
                      <a:headEnd type="none" w="med" len="med"/>
                      <a:tailEnd type="none" w="med" len="med"/>
                    </a:lnR>
                    <a:lnT w="9525" cap="flat" cmpd="sng" algn="ctr">
                      <a:solidFill>
                        <a:srgbClr val="D9E1F2"/>
                      </a:solidFill>
                      <a:prstDash val="solid"/>
                      <a:round/>
                      <a:headEnd type="none" w="med" len="med"/>
                      <a:tailEnd type="none" w="med" len="med"/>
                    </a:lnT>
                    <a:lnB w="9525" cap="flat" cmpd="sng" algn="ctr">
                      <a:solidFill>
                        <a:srgbClr val="D9E1F2"/>
                      </a:solidFill>
                      <a:prstDash val="solid"/>
                      <a:round/>
                      <a:headEnd type="none" w="med" len="med"/>
                      <a:tailEnd type="none" w="med" len="med"/>
                    </a:lnB>
                    <a:solidFill>
                      <a:srgbClr val="FFF3CC"/>
                    </a:solidFill>
                  </a:tcPr>
                </a:tc>
                <a:tc>
                  <a:txBody>
                    <a:bodyPr/>
                    <a:lstStyle/>
                    <a:p>
                      <a:pPr indent="0" marL="0">
                        <a:buNone/>
                      </a:pPr>
                      <a:r>
                        <a:rPr lang="en-US" sz="1200" dirty="0">
                          <a:solidFill>
                            <a:srgbClr val="14213D"/>
                          </a:solidFill>
                          <a:latin typeface="Calibri" pitchFamily="34" charset="0"/>
                          <a:ea typeface="Calibri" pitchFamily="34" charset="-122"/>
                          <a:cs typeface="Calibri" pitchFamily="34" charset="-120"/>
                        </a:rPr>
                        <a:t>Positive 100%</a:t>
                      </a:r>
                      <a:endParaRPr lang="en-US" sz="1200" dirty="0">
                        <a:latin typeface="Calibri" charset="0"/>
                        <a:ea typeface="Calibri" charset="0"/>
                        <a:cs typeface="Calibri" charset="0"/>
                      </a:endParaRPr>
                    </a:p>
                  </a:txBody>
                  <a:tcPr marL="91440" marR="91440" marT="45720" marB="45720" anchor="ctr">
                    <a:lnL w="9525" cap="flat" cmpd="sng" algn="ctr">
                      <a:solidFill>
                        <a:srgbClr val="D9E1F2"/>
                      </a:solidFill>
                      <a:prstDash val="solid"/>
                      <a:round/>
                      <a:headEnd type="none" w="med" len="med"/>
                      <a:tailEnd type="none" w="med" len="med"/>
                    </a:lnL>
                    <a:lnR w="9525" cap="flat" cmpd="sng" algn="ctr">
                      <a:solidFill>
                        <a:srgbClr val="D9E1F2"/>
                      </a:solidFill>
                      <a:prstDash val="solid"/>
                      <a:round/>
                      <a:headEnd type="none" w="med" len="med"/>
                      <a:tailEnd type="none" w="med" len="med"/>
                    </a:lnR>
                    <a:lnT w="9525" cap="flat" cmpd="sng" algn="ctr">
                      <a:solidFill>
                        <a:srgbClr val="D9E1F2"/>
                      </a:solidFill>
                      <a:prstDash val="solid"/>
                      <a:round/>
                      <a:headEnd type="none" w="med" len="med"/>
                      <a:tailEnd type="none" w="med" len="med"/>
                    </a:lnT>
                    <a:lnB w="9525" cap="flat" cmpd="sng" algn="ctr">
                      <a:solidFill>
                        <a:srgbClr val="D9E1F2"/>
                      </a:solidFill>
                      <a:prstDash val="solid"/>
                      <a:round/>
                      <a:headEnd type="none" w="med" len="med"/>
                      <a:tailEnd type="none" w="med" len="med"/>
                    </a:lnB>
                    <a:solidFill>
                      <a:srgbClr val="FFF3CC"/>
                    </a:solidFill>
                  </a:tcPr>
                </a:tc>
              </a:tr>
            </a:tbl>
          </a:graphicData>
        </a:graphic>
      </p:graphicFrame>
      <p:sp>
        <p:nvSpPr>
          <p:cNvPr id="5" name="Demo caveat"/>
          <p:cNvSpPr txBox="1"/>
          <p:nvPr/>
        </p:nvSpPr>
        <p:spPr>
          <a:xfrm>
            <a:off x="457200" y="3840480"/>
            <a:ext cx="5120640" cy="64008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The highlighted mixed review has no single right label. The LSTM is 100% sure anyway, so confidence is not accuracy.</a:t>
            </a:r>
            <a:endParaRPr lang="en-US" sz="1300" dirty="0"/>
          </a:p>
        </p:txBody>
      </p:sp>
      <p:sp>
        <p:nvSpPr>
          <p:cNvPr id="6" name="App features card"/>
          <p:cNvSpPr/>
          <p:nvPr/>
        </p:nvSpPr>
        <p:spPr>
          <a:xfrm>
            <a:off x="5852160" y="1280160"/>
            <a:ext cx="2834640" cy="3200400"/>
          </a:xfrm>
          <a:prstGeom prst="roundRect">
            <a:avLst>
              <a:gd name="adj" fmla="val 3871"/>
            </a:avLst>
          </a:prstGeom>
          <a:solidFill>
            <a:schemeClr val="bg2"/>
          </a:solidFill>
          <a:ln w="12700">
            <a:solidFill>
              <a:schemeClr val="bg2"/>
            </a:solidFill>
            <a:prstDash val="solid"/>
          </a:ln>
        </p:spPr>
      </p:sp>
      <p:sp>
        <p:nvSpPr>
          <p:cNvPr id="7" name="App features heading"/>
          <p:cNvSpPr txBox="1"/>
          <p:nvPr/>
        </p:nvSpPr>
        <p:spPr>
          <a:xfrm>
            <a:off x="6080760" y="1463040"/>
            <a:ext cx="237744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What the app does</a:t>
            </a:r>
            <a:endParaRPr lang="en-US" sz="1600" dirty="0"/>
          </a:p>
        </p:txBody>
      </p:sp>
      <p:sp>
        <p:nvSpPr>
          <p:cNvPr id="8" name="App features list"/>
          <p:cNvSpPr txBox="1"/>
          <p:nvPr/>
        </p:nvSpPr>
        <p:spPr>
          <a:xfrm>
            <a:off x="6080760" y="1874520"/>
            <a:ext cx="2377440" cy="24688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Scores one review with either model, or both side by side</a:t>
            </a:r>
            <a:endParaRPr lang="en-US" sz="1300" dirty="0"/>
          </a:p>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Flags when the models disagree</a:t>
            </a:r>
            <a:endParaRPr lang="en-US" sz="1300" dirty="0"/>
          </a:p>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Scores a whole CSV and exports results</a:t>
            </a:r>
            <a:endParaRPr lang="en-US" sz="1300" dirty="0"/>
          </a:p>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Shows model comparison and data charts</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Conclusions and next steps</a:t>
            </a:r>
            <a:endParaRPr lang="en-US" sz="3000" dirty="0"/>
          </a:p>
        </p:txBody>
      </p:sp>
      <p:sp>
        <p:nvSpPr>
          <p:cNvPr id="4" name="What we found card"/>
          <p:cNvSpPr/>
          <p:nvPr/>
        </p:nvSpPr>
        <p:spPr>
          <a:xfrm>
            <a:off x="457200" y="1280160"/>
            <a:ext cx="4023360" cy="3200400"/>
          </a:xfrm>
          <a:prstGeom prst="roundRect">
            <a:avLst>
              <a:gd name="adj" fmla="val 3429"/>
            </a:avLst>
          </a:prstGeom>
          <a:solidFill>
            <a:schemeClr val="accent1"/>
          </a:solidFill>
          <a:ln w="12700">
            <a:solidFill>
              <a:schemeClr val="accent1"/>
            </a:solidFill>
            <a:prstDash val="solid"/>
          </a:ln>
        </p:spPr>
      </p:sp>
      <p:sp>
        <p:nvSpPr>
          <p:cNvPr id="5" name="What we found heading"/>
          <p:cNvSpPr txBox="1"/>
          <p:nvPr/>
        </p:nvSpPr>
        <p:spPr>
          <a:xfrm>
            <a:off x="731520" y="1463040"/>
            <a:ext cx="3474720" cy="36576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What we found</a:t>
            </a:r>
            <a:endParaRPr lang="en-US" sz="1800" dirty="0"/>
          </a:p>
        </p:txBody>
      </p:sp>
      <p:sp>
        <p:nvSpPr>
          <p:cNvPr id="6" name="What we found list"/>
          <p:cNvSpPr txBox="1"/>
          <p:nvPr/>
        </p:nvSpPr>
        <p:spPr>
          <a:xfrm>
            <a:off x="731520" y="1920240"/>
            <a:ext cx="3474720" cy="24688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bg1"/>
                </a:solidFill>
                <a:latin typeface="Calibri" pitchFamily="34" charset="0"/>
                <a:ea typeface="Calibri" pitchFamily="34" charset="-122"/>
                <a:cs typeface="Calibri" pitchFamily="34" charset="-120"/>
              </a:rPr>
              <a:t>Rating and Sentiment_Score leak the label and stay out of the models</a:t>
            </a:r>
            <a:endParaRPr lang="en-US" sz="1300" dirty="0"/>
          </a:p>
          <a:p>
            <a:pPr marL="342900" indent="-342900">
              <a:spcAft>
                <a:spcPts val="800"/>
              </a:spcAft>
              <a:buSzPct val="100000"/>
              <a:buChar char="•"/>
            </a:pPr>
            <a:r>
              <a:rPr lang="en-US" sz="1300" dirty="0">
                <a:solidFill>
                  <a:schemeClr val="bg1"/>
                </a:solidFill>
                <a:latin typeface="Calibri" pitchFamily="34" charset="0"/>
                <a:ea typeface="Calibri" pitchFamily="34" charset="-122"/>
                <a:cs typeface="Calibri" pitchFamily="34" charset="-120"/>
              </a:rPr>
              <a:t>Random-split 1.000 reflects template overlap, not skill</a:t>
            </a:r>
            <a:endParaRPr lang="en-US" sz="1300" dirty="0"/>
          </a:p>
          <a:p>
            <a:pPr marL="342900" indent="-342900">
              <a:spcAft>
                <a:spcPts val="800"/>
              </a:spcAft>
              <a:buSzPct val="100000"/>
              <a:buChar char="•"/>
            </a:pPr>
            <a:r>
              <a:rPr lang="en-US" sz="1300" dirty="0">
                <a:solidFill>
                  <a:schemeClr val="bg1"/>
                </a:solidFill>
                <a:latin typeface="Calibri" pitchFamily="34" charset="0"/>
                <a:ea typeface="Calibri" pitchFamily="34" charset="-122"/>
                <a:cs typeface="Calibri" pitchFamily="34" charset="-120"/>
              </a:rPr>
              <a:t>On unseen phrases LR (0.930) and LSTM (0.959) are tied; NB (0.697) and SVM (0.808) trail</a:t>
            </a:r>
            <a:endParaRPr lang="en-US" sz="1300" dirty="0"/>
          </a:p>
          <a:p>
            <a:pPr marL="342900" indent="-342900">
              <a:spcAft>
                <a:spcPts val="800"/>
              </a:spcAft>
              <a:buSzPct val="100000"/>
              <a:buChar char="•"/>
            </a:pPr>
            <a:r>
              <a:rPr lang="en-US" sz="1300" dirty="0">
                <a:solidFill>
                  <a:schemeClr val="bg1"/>
                </a:solidFill>
                <a:latin typeface="Calibri" pitchFamily="34" charset="0"/>
                <a:ea typeface="Calibri" pitchFamily="34" charset="-122"/>
                <a:cs typeface="Calibri" pitchFamily="34" charset="-120"/>
              </a:rPr>
              <a:t>Recommended: Logistic Regression with lemmatized TF-IDF</a:t>
            </a:r>
            <a:endParaRPr lang="en-US" sz="1300" dirty="0"/>
          </a:p>
        </p:txBody>
      </p:sp>
      <p:sp>
        <p:nvSpPr>
          <p:cNvPr id="7" name="Next steps card"/>
          <p:cNvSpPr/>
          <p:nvPr/>
        </p:nvSpPr>
        <p:spPr>
          <a:xfrm>
            <a:off x="4663440" y="1280160"/>
            <a:ext cx="4023360" cy="3200400"/>
          </a:xfrm>
          <a:prstGeom prst="roundRect">
            <a:avLst>
              <a:gd name="adj" fmla="val 3429"/>
            </a:avLst>
          </a:prstGeom>
          <a:solidFill>
            <a:schemeClr val="accent1"/>
          </a:solidFill>
          <a:ln w="12700">
            <a:solidFill>
              <a:schemeClr val="accent1"/>
            </a:solidFill>
            <a:prstDash val="solid"/>
          </a:ln>
        </p:spPr>
      </p:sp>
      <p:sp>
        <p:nvSpPr>
          <p:cNvPr id="8" name="Next steps heading"/>
          <p:cNvSpPr txBox="1"/>
          <p:nvPr/>
        </p:nvSpPr>
        <p:spPr>
          <a:xfrm>
            <a:off x="4937760" y="1463040"/>
            <a:ext cx="3474720" cy="36576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Next steps</a:t>
            </a:r>
            <a:endParaRPr lang="en-US" sz="1800" dirty="0"/>
          </a:p>
        </p:txBody>
      </p:sp>
      <p:sp>
        <p:nvSpPr>
          <p:cNvPr id="9" name="Next steps list"/>
          <p:cNvSpPr txBox="1"/>
          <p:nvPr/>
        </p:nvSpPr>
        <p:spPr>
          <a:xfrm>
            <a:off x="4937760" y="1920240"/>
            <a:ext cx="3474720" cy="24688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bg1"/>
                </a:solidFill>
                <a:latin typeface="Calibri" pitchFamily="34" charset="0"/>
                <a:ea typeface="Calibri" pitchFamily="34" charset="-122"/>
                <a:cs typeface="Calibri" pitchFamily="34" charset="-120"/>
              </a:rPr>
              <a:t>Train on real Flipkart reviews and repeat the unseen-phrase test</a:t>
            </a:r>
            <a:endParaRPr lang="en-US" sz="1300" dirty="0"/>
          </a:p>
          <a:p>
            <a:pPr marL="342900" indent="-342900">
              <a:spcAft>
                <a:spcPts val="800"/>
              </a:spcAft>
              <a:buSzPct val="100000"/>
              <a:buChar char="•"/>
            </a:pPr>
            <a:r>
              <a:rPr lang="en-US" sz="1300" dirty="0">
                <a:solidFill>
                  <a:schemeClr val="bg1"/>
                </a:solidFill>
                <a:latin typeface="Calibri" pitchFamily="34" charset="0"/>
                <a:ea typeface="Calibri" pitchFamily="34" charset="-122"/>
                <a:cs typeface="Calibri" pitchFamily="34" charset="-120"/>
              </a:rPr>
              <a:t>Add pretrained embeddings or fine-tune BERT</a:t>
            </a:r>
            <a:endParaRPr lang="en-US" sz="1300" dirty="0"/>
          </a:p>
          <a:p>
            <a:pPr marL="342900" indent="-342900">
              <a:spcAft>
                <a:spcPts val="800"/>
              </a:spcAft>
              <a:buSzPct val="100000"/>
              <a:buChar char="•"/>
            </a:pPr>
            <a:r>
              <a:rPr lang="en-US" sz="1300" dirty="0">
                <a:solidFill>
                  <a:schemeClr val="bg1"/>
                </a:solidFill>
                <a:latin typeface="Calibri" pitchFamily="34" charset="0"/>
                <a:ea typeface="Calibri" pitchFamily="34" charset="-122"/>
                <a:cs typeface="Calibri" pitchFamily="34" charset="-120"/>
              </a:rPr>
              <a:t>Add aspect-level sentiment for mixed reviews</a:t>
            </a:r>
            <a:endParaRPr lang="en-US" sz="1300" dirty="0"/>
          </a:p>
          <a:p>
            <a:pPr marL="342900" indent="-342900">
              <a:spcAft>
                <a:spcPts val="800"/>
              </a:spcAft>
              <a:buSzPct val="100000"/>
              <a:buChar char="•"/>
            </a:pPr>
            <a:r>
              <a:rPr lang="en-US" sz="1300" dirty="0">
                <a:solidFill>
                  <a:schemeClr val="bg1"/>
                </a:solidFill>
                <a:latin typeface="Calibri" pitchFamily="34" charset="0"/>
                <a:ea typeface="Calibri" pitchFamily="34" charset="-122"/>
                <a:cs typeface="Calibri" pitchFamily="34" charset="-120"/>
              </a:rPr>
              <a:t>Calibrate confidence; add SHAP explanations</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Flipkart Sentiment">
  <a:themeElements>
    <a:clrScheme name="Flipkart Sentiment">
      <a:dk1>
        <a:srgbClr val="14213D"/>
      </a:dk1>
      <a:lt1>
        <a:srgbClr val="FFFFFF"/>
      </a:lt1>
      <a:dk2>
        <a:srgbClr val="0B1F4D"/>
      </a:dk2>
      <a:lt2>
        <a:srgbClr val="EEF3FC"/>
      </a:lt2>
      <a:accent1>
        <a:srgbClr val="2874F0"/>
      </a:accent1>
      <a:accent2>
        <a:srgbClr val="FFC200"/>
      </a:accent2>
      <a:accent3>
        <a:srgbClr val="2E9E6B"/>
      </a:accent3>
      <a:accent4>
        <a:srgbClr val="D64545"/>
      </a:accent4>
      <a:accent5>
        <a:srgbClr val="F2A93B"/>
      </a:accent5>
      <a:accent6>
        <a:srgbClr val="6B7A99"/>
      </a:accent6>
      <a:hlink>
        <a:srgbClr val="2874F0"/>
      </a:hlink>
      <a:folHlink>
        <a:srgbClr val="6B7A99"/>
      </a:folHlink>
    </a:clrScheme>
    <a:fontScheme name="Flipkart Sentime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Flipkart Reviews Sentiment Analysis</dc:title>
  <dc:subject>PptxGenJS Presentation</dc:subject>
  <dc:creator>PptxGenJS</dc:creator>
  <cp:lastModifiedBy>PptxGenJS</cp:lastModifiedBy>
  <cp:revision>1</cp:revision>
  <dcterms:created xsi:type="dcterms:W3CDTF">2026-10-04T23:16:29Z</dcterms:created>
  <dcterms:modified xsi:type="dcterms:W3CDTF">2026-10-04T23:16:29Z</dcterms:modified>
</cp:coreProperties>
</file>